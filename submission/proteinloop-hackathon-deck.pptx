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5a37877d9f64fa8" /><Relationship Type="http://schemas.openxmlformats.org/officeDocument/2006/relationships/extended-properties" Target="/docProps/app.xml" Id="R7d119b77d7cd4da3" /><Relationship Type="http://schemas.openxmlformats.org/officeDocument/2006/relationships/officeDocument" Target="/ppt/presentation.xml" Id="R5d5f2b8e1131430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8f1f919712c42f9"/>
  </p:sldMasterIdLst>
  <p:notesMasterIdLst>
    <p:notesMasterId xmlns:r="http://schemas.openxmlformats.org/officeDocument/2006/relationships" r:id="R5d6b16586f2b4fae"/>
  </p:notesMasterIdLst>
  <p:sldIdLst>
    <p:sldId xmlns:r="http://schemas.openxmlformats.org/officeDocument/2006/relationships" id="256" r:id="Rf81549b35379400b"/>
    <p:sldId xmlns:r="http://schemas.openxmlformats.org/officeDocument/2006/relationships" id="257" r:id="R0c276de5635b41b5"/>
    <p:sldId xmlns:r="http://schemas.openxmlformats.org/officeDocument/2006/relationships" id="258" r:id="Re9dd8b8e57d94111"/>
    <p:sldId xmlns:r="http://schemas.openxmlformats.org/officeDocument/2006/relationships" id="259" r:id="R968268323b4c4ad6"/>
    <p:sldId xmlns:r="http://schemas.openxmlformats.org/officeDocument/2006/relationships" id="260" r:id="R2e471bef25b74bcf"/>
    <p:sldId xmlns:r="http://schemas.openxmlformats.org/officeDocument/2006/relationships" id="261" r:id="R606f8f4eca884cc8"/>
    <p:sldId xmlns:r="http://schemas.openxmlformats.org/officeDocument/2006/relationships" id="262" r:id="Rad966d13c69d4473"/>
    <p:sldId xmlns:r="http://schemas.openxmlformats.org/officeDocument/2006/relationships" id="263" r:id="Rd9817204d310458d"/>
    <p:sldId xmlns:r="http://schemas.openxmlformats.org/officeDocument/2006/relationships" id="264" r:id="R72d89ec2ff9749f7"/>
    <p:sldId xmlns:r="http://schemas.openxmlformats.org/officeDocument/2006/relationships" id="265" r:id="Rb0f26de0b34e4f05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8f1f919712c42f9" /><Relationship Type="http://schemas.openxmlformats.org/officeDocument/2006/relationships/theme" Target="/ppt/theme/theme1.xml" Id="R58a4399fd2dc4853" /><Relationship Type="http://schemas.openxmlformats.org/officeDocument/2006/relationships/notesMaster" Target="/ppt/notesMasters/notesMaster1.xml" Id="R5d6b16586f2b4fae" /><Relationship Type="http://schemas.openxmlformats.org/officeDocument/2006/relationships/presProps" Target="/ppt/presProps.xml" Id="R99862f6aaef3453e" /><Relationship Type="http://schemas.openxmlformats.org/officeDocument/2006/relationships/viewProps" Target="/ppt/viewProps.xml" Id="Raba53b8ddd744644" /><Relationship Type="http://schemas.openxmlformats.org/officeDocument/2006/relationships/tableStyles" Target="/ppt/tableStyles.xml" Id="R4e332fff7f664bb9" /><Relationship Type="http://schemas.openxmlformats.org/officeDocument/2006/relationships/slide" Target="/ppt/slides/slide1.xml" Id="Rf81549b35379400b" /><Relationship Type="http://schemas.openxmlformats.org/officeDocument/2006/relationships/slide" Target="/ppt/slides/slide2.xml" Id="R0c276de5635b41b5" /><Relationship Type="http://schemas.openxmlformats.org/officeDocument/2006/relationships/slide" Target="/ppt/slides/slide3.xml" Id="Re9dd8b8e57d94111" /><Relationship Type="http://schemas.openxmlformats.org/officeDocument/2006/relationships/slide" Target="/ppt/slides/slide4.xml" Id="R968268323b4c4ad6" /><Relationship Type="http://schemas.openxmlformats.org/officeDocument/2006/relationships/slide" Target="/ppt/slides/slide5.xml" Id="R2e471bef25b74bcf" /><Relationship Type="http://schemas.openxmlformats.org/officeDocument/2006/relationships/slide" Target="/ppt/slides/slide6.xml" Id="R606f8f4eca884cc8" /><Relationship Type="http://schemas.openxmlformats.org/officeDocument/2006/relationships/slide" Target="/ppt/slides/slide7.xml" Id="Rad966d13c69d4473" /><Relationship Type="http://schemas.openxmlformats.org/officeDocument/2006/relationships/slide" Target="/ppt/slides/slide8.xml" Id="Rd9817204d310458d" /><Relationship Type="http://schemas.openxmlformats.org/officeDocument/2006/relationships/slide" Target="/ppt/slides/slide9.xml" Id="R72d89ec2ff9749f7" /><Relationship Type="http://schemas.openxmlformats.org/officeDocument/2006/relationships/slide" Target="/ppt/slides/slide10.xml" Id="Rb0f26de0b34e4f0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2f40fb3f57cd476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b9918bb0b3e45c2" /><Relationship Type="http://schemas.openxmlformats.org/officeDocument/2006/relationships/notesMaster" Target="/ppt/notesMasters/notesMaster1.xml" Id="R1940b9bfda424dc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ce48b193b8548c6" /><Relationship Type="http://schemas.openxmlformats.org/officeDocument/2006/relationships/notesMaster" Target="/ppt/notesMasters/notesMaster1.xml" Id="R722c2fd3aa3245f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c88744bdb0f4edc" /><Relationship Type="http://schemas.openxmlformats.org/officeDocument/2006/relationships/notesMaster" Target="/ppt/notesMasters/notesMaster1.xml" Id="Rc433993934724b7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2e8fd5ee3554b4b" /><Relationship Type="http://schemas.openxmlformats.org/officeDocument/2006/relationships/notesMaster" Target="/ppt/notesMasters/notesMaster1.xml" Id="Rbf1e65ac29ca48b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8d9adc424b24f94" /><Relationship Type="http://schemas.openxmlformats.org/officeDocument/2006/relationships/notesMaster" Target="/ppt/notesMasters/notesMaster1.xml" Id="R1b47bb406dd741e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cac2b247eb04326" /><Relationship Type="http://schemas.openxmlformats.org/officeDocument/2006/relationships/notesMaster" Target="/ppt/notesMasters/notesMaster1.xml" Id="Ra291f99977e942d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9787b8f360145dd" /><Relationship Type="http://schemas.openxmlformats.org/officeDocument/2006/relationships/notesMaster" Target="/ppt/notesMasters/notesMaster1.xml" Id="R18c0d8661d8540a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9737e7efed54000" /><Relationship Type="http://schemas.openxmlformats.org/officeDocument/2006/relationships/notesMaster" Target="/ppt/notesMasters/notesMaster1.xml" Id="Ree032e87d8544fd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30236cca4de42ba" /><Relationship Type="http://schemas.openxmlformats.org/officeDocument/2006/relationships/notesMaster" Target="/ppt/notesMasters/notesMaster1.xml" Id="Re5c09136c4b3492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0ea2823a9434849" /><Relationship Type="http://schemas.openxmlformats.org/officeDocument/2006/relationships/notesMaster" Target="/ppt/notesMasters/notesMaster1.xml" Id="R79f6eee62da1489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dc55afbccf4bc8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90ce23053f994459" /><Relationship Type="http://schemas.openxmlformats.org/officeDocument/2006/relationships/slideLayout" Target="/ppt/slideLayouts/slideLayout2.xml" Id="Rbf2491285e16493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f2491285e16493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5cae1d9260a4eac" /><Relationship Type="http://schemas.openxmlformats.org/officeDocument/2006/relationships/notesSlide" Target="/ppt/notesSlides/notesSlide1.xml" Id="Re23f9cde322a4bd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c894bb93d124c66" /><Relationship Type="http://schemas.openxmlformats.org/officeDocument/2006/relationships/notesSlide" Target="/ppt/notesSlides/notesSlide2.xml" Id="R8fc245a9ddfb4de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f24d9625e0b4a18" /><Relationship Type="http://schemas.openxmlformats.org/officeDocument/2006/relationships/notesSlide" Target="/ppt/notesSlides/notesSlide3.xml" Id="R7ae27d3ab54d4a3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88e0a3e5baf4e93" /><Relationship Type="http://schemas.openxmlformats.org/officeDocument/2006/relationships/notesSlide" Target="/ppt/notesSlides/notesSlide4.xml" Id="R12140cdb2d02439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3e1f79e51cf4128" /><Relationship Type="http://schemas.openxmlformats.org/officeDocument/2006/relationships/notesSlide" Target="/ppt/notesSlides/notesSlide5.xml" Id="R93e6c1896b0d49a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d6730e812064942" /><Relationship Type="http://schemas.openxmlformats.org/officeDocument/2006/relationships/notesSlide" Target="/ppt/notesSlides/notesSlide6.xml" Id="R9573bbdee30d43c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44cfd10eb3d4d64" /><Relationship Type="http://schemas.openxmlformats.org/officeDocument/2006/relationships/notesSlide" Target="/ppt/notesSlides/notesSlide7.xml" Id="Rd41042c88648446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e70ebd31eed4f84" /><Relationship Type="http://schemas.openxmlformats.org/officeDocument/2006/relationships/notesSlide" Target="/ppt/notesSlides/notesSlide8.xml" Id="R86e09fc64ce94bc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e58844fdfb34fa3" /><Relationship Type="http://schemas.openxmlformats.org/officeDocument/2006/relationships/notesSlide" Target="/ppt/notesSlides/notesSlide9.xml" Id="Rf1c2986bced74cb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85883da1be04804" /><Relationship Type="http://schemas.openxmlformats.org/officeDocument/2006/relationships/notesSlide" Target="/ppt/notesSlides/notesSlide10.xml" Id="Rb5b8cac1370e4f4b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A99E4D0-7AF8-42CA-A787-7FD97292B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7A21FA-9D9F-4E39-A8EA-F20FD3607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4DC44D-AC61-4173-954A-EA3D545D5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B3C3DC-9622-4ED5-A8C9-D390B9DC3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Unicorn Track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6FFAB3-6864-4FA9-BFFB-C23C2019A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66800"/>
            <a:ext cx="11163300" cy="430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E9172F-6B0B-483B-80F2-805DB7E85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466850"/>
            <a:ext cx="7239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ProteinLoop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35EF7C-018D-48BC-9276-BFDDD948A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00300"/>
            <a:ext cx="6477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CCFBF1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CCFBF1"/>
                </a:solidFill>
                <a:latin typeface="Aptos"/>
                <a:ea typeface="Aptos"/>
                <a:cs typeface="Aptos"/>
              </a:rPr>
              <a:t>An agentic loop that closes the protein cycle.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EA1038-7525-45D1-BBD3-4586984B9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29000"/>
            <a:ext cx="209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FBF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F641CE-C9E7-4250-AEC5-9B289F15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56235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core claim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630906-B504-45F0-8993-72448500D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790950"/>
            <a:ext cx="1790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Verifier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5FD788-B5C8-4929-87A0-F1566A9C5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17195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physics before mutation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23C592-B12D-458C-BE4C-710880B33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429000"/>
            <a:ext cx="209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B29429-620D-4C7A-A33C-0C89E0646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56235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demo proof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3DE85A-0865-4785-81B0-B1743A787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790950"/>
            <a:ext cx="1790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Recovery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6688A9-0E7E-4D36-B708-F22297B2D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17195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collapse avoided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D77FB6-66D2-4F85-8A0D-8A5924EA5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429000"/>
            <a:ext cx="209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36987D-414B-4658-8FE0-5114A889E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56235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model proof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A65987C-A073-4274-ACED-A1BB8BB50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790950"/>
            <a:ext cx="1790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E2B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12C15E4-1F87-4589-BC3C-4EF6C3133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17195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llama.cpp + Metal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C4B596-7EA2-4FF3-9532-7ED6CF214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1581150"/>
            <a:ext cx="2000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fish</a:t>
            </a:r>
          </a:p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prawns</a:t>
            </a:r>
          </a:p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duckweed</a:t>
            </a:r>
          </a:p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plants</a:t>
            </a:r>
          </a:p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eggs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FF9D84-3B53-433F-A036-94B76CA29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39B5598-4221-4E38-9CEF-1DF63FB40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10718744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B5ADE9D-7D0E-4E0B-B959-59217D9E3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60191B-B0ED-4443-83CC-8C48AE20C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9270E1-F541-4B87-81C5-E4E5CF08B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5EDE10-5D84-46E5-BF27-95111C73B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9B6843-B327-4216-9331-E3CE6221F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6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Aquaponics links fish and plants. ProteinLoop protects every output.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32D92D-BEE4-4932-8473-29EFE82F9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The operational gap is making animal biomass, cross-species tradeoffs, and verified recovery immediately visible.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67C521-5BE1-453E-8741-DD264245B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66950"/>
            <a:ext cx="31432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19050">
            <a:solidFill>
              <a:srgbClr val="B91C1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7AAA79-7637-4046-A249-6A4E707A7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0030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Aquaponics baseline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EAABC7-9A88-4DBD-B61A-125453236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43200"/>
            <a:ext cx="28003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Aquatic animals and plants share one water loop. A chemistry failure can threaten both.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8FDB82-3F9D-4E74-8567-D9485A7FD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266950"/>
            <a:ext cx="31432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19050">
            <a:solidFill>
              <a:srgbClr val="B4530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3AD833-CA23-45F3-9882-1157F2CF0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40030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Operational barrier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DC01CD-D450-430D-A669-1CA8D115F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743200"/>
            <a:ext cx="28003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Feed, ammonia, oxygen, nitrate, harvest timing, and mortality cascades interact every day.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1AC919-9EE3-4D9D-9211-5EACAFB7E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266950"/>
            <a:ext cx="31432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9050">
            <a:solidFill>
              <a:srgbClr val="15803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33C232-47B6-4018-BF94-0990D186A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40030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ProteinLoop 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4B3979-6804-469B-BADB-74E5E654C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743200"/>
            <a:ext cx="28003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A closed protein cycle controlled by a verifier-gated agentic loop and clear producer approvals.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9F2F46-5449-4FAD-A235-590B566E5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C126F9-042F-4890-84E1-97449F781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258315649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E186F2C-1D39-4C7A-A0EE-A1DCCC0CD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FA5761-D184-4109-9554-EAAA5A9B6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7FCFE1-9CB4-4CD0-953D-01ADDA6F5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F8593C-8D67-484A-96D8-51DE9BBFA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Closed loop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7871A4-AFFD-48AA-92E6-D4080D0DF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6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The food system is also an actor system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3D1CC0-5FBB-40D8-8BC4-E4ED2EE35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Each organism is a resource participant; the agent loop coordinates the whole protein cycle.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EBCF20-30C9-46BE-9F4A-7E1E1EBAE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43150"/>
            <a:ext cx="1809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9050">
            <a:solidFill>
              <a:srgbClr val="15803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19DB1F-DE09-454E-BA50-A6AB5FF1A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7650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Duckweed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E48685-3F43-471D-A1AF-484FF84A7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19400"/>
            <a:ext cx="1466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Fast protein biomass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52964F-28B5-44E0-8F2A-59FBE8F40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7241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C6AE59-14AE-48A8-8BDB-42C435697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343150"/>
            <a:ext cx="1809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 w="19050">
            <a:solidFill>
              <a:srgbClr val="0369A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DB2898-691D-4944-AFC9-12E0AB19B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47650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Fish + prawns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873F18-E011-4D9B-B19E-14F40772D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819400"/>
            <a:ext cx="1466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Protein plus nutrients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05F564-3C69-4278-94BB-9D4BD8B90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7241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28B6D6-C1EF-4BD7-BEE5-D869705B7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343150"/>
            <a:ext cx="1809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FBF1"/>
          </a:solidFill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3F47A1-9658-41D4-AF18-3AF1F887D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47650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Plants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E2348F-8F5B-4EF0-8DDA-2649BAEA9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819400"/>
            <a:ext cx="1466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Nitrate uptake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6791E0-C6B3-49B2-B549-B4F80EAE3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7241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1C2ACB-04C1-4716-B221-ADC0E409E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343150"/>
            <a:ext cx="1809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19050">
            <a:solidFill>
              <a:srgbClr val="B4530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E74E843-5A44-4C6E-836F-EF32056E8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47650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Chickens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0AB89C7-27D6-4FC6-8496-5F7C577AE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819400"/>
            <a:ext cx="1466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Daily eggs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7F273A-E082-4603-8BFC-67C3B66F2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057650"/>
            <a:ext cx="4381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C06A0AA-B047-43B5-BC61-3FBC40983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191000"/>
            <a:ext cx="4038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Agent supervisor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DED0E5C-8988-4A3D-94BA-9AFCA9621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533900"/>
            <a:ext cx="4038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Balances feed, oxygen, water exchange, harvest, and risk across subsystem agents.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E07B5EE-BEE0-4DFE-A00F-86583A3A2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B133643-0B1C-4889-A126-E706124B5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17986428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3D36E14-08CD-4B65-8EAE-693D0D4BA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D66469-7700-49AA-B64B-19380F34D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3EAE39-FBE2-46F2-B668-0A07E0547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D369F1-2243-469E-8E0B-3FDBC3373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Harness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468C1A-1020-4AB3-BED0-0FD6FF123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6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The simulator is the safety boundary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351BB2-B1D6-467C-A3B5-6D85C6518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Models and humans can propose actions, but deterministic physics decides whether state can mutate.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398F08-CEC7-43E4-8D2F-AF9FB60A1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62200"/>
            <a:ext cx="200025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 w="19050">
            <a:solidFill>
              <a:srgbClr val="0369A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C306F8-AE4F-48C6-8C75-9AD4AB401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95550"/>
            <a:ext cx="1657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call_llm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AA245B-2AC1-4EDA-8598-B27E1FC36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838450"/>
            <a:ext cx="16573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Four Gemma subagents report to a Sagents supervisor.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DB869D-4050-4BEB-9335-5860F508E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8194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A3BD12-20E4-42D7-A32E-BECCB6C7D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362200"/>
            <a:ext cx="247650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19050">
            <a:solidFill>
              <a:srgbClr val="B91C1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390743-532D-42D4-A2A0-EF1056809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495550"/>
            <a:ext cx="2133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verify_ecosystem_safety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2E974C-F63D-410D-B0F5-699CB1197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838450"/>
            <a:ext cx="2133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Checks feed, oxygen, water exchange, duckweed reserve, and collapse state.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5E1A15-71E9-4C94-AF7B-E2D5DF72E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8194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41D6EF-93A3-4018-AAB0-EF54E62AE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362200"/>
            <a:ext cx="200025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9050">
            <a:solidFill>
              <a:srgbClr val="15803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A9E2D09-8411-41C4-A34B-724561EAB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495550"/>
            <a:ext cx="1657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execute_tools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406D52-DDB0-4B23-BCB8-6618CB570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838450"/>
            <a:ext cx="16573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Only accepted actions mutate simulator state.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7C2672-79AE-4A13-8BFF-BCABA1F98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8194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8CE9BFC-4F73-4568-A1E7-1AB29342A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362200"/>
            <a:ext cx="219075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FBF1"/>
          </a:solidFill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FFBC98-9AEC-4BEA-9EB0-F6E8231BD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495550"/>
            <a:ext cx="1847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until_tool_success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8E694FE-C342-4785-B6FB-2AC315DC0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838450"/>
            <a:ext cx="18478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Stops only on an accepted close_cycle result.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3D4008F-4657-4264-AEB3-B487892BB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305300"/>
            <a:ext cx="7239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33415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6B18E4F-8500-4E9C-8D0E-27E2BA6D9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4438650"/>
            <a:ext cx="6896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Proof in repo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DDE3F03-4EF4-405E-8F10-4B2B72053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4781550"/>
            <a:ext cx="68961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Unsafe overfeeding is rejected before mutation; accepted recovery appends verifier evidence to the RLVR trace artifact.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C169951-A6BB-4CC3-8368-C4B46C2C6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076E127-E076-4664-A1C7-20795AACE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59641155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6719910-2A97-4341-B1BC-690DA8C31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A31DE4-0C8F-49EA-B5D4-071D6478A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E72ADF-90D6-4E3E-A56C-E453AFD4C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CD9C2D-B073-48A7-9D48-963189D5F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Demo evidence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B99BAC-69B6-4EA5-90C9-84DCFBBFA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6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The local demo proves collapse versus recovery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A30F12-F367-4EAF-B620-505538E76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One button runs reset, ammonia spike, unsafe rejection, safe recovery, and trace recording.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344A24-25F3-437D-9ACD-A7A008EB9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81250"/>
            <a:ext cx="209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F60EF6-C605-453E-9234-211C4153F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146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Python tests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F2EE0A-E974-41F6-AA17-1CEC8F3F7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743200"/>
            <a:ext cx="1790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160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AF7533-D7A8-44D5-9F1F-A605394A5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242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sim/API/evidence/deploy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BE5FDA-E9DB-4B6E-8FAD-EE006E784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381250"/>
            <a:ext cx="209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331576-1E28-4E8F-A605-6826A5479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5146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Phoenix tests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F6E62A-C952-4BE4-A7F2-1D0DCBD7B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743200"/>
            <a:ext cx="1790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120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621A0A-3C7F-4BAC-96E5-317FCE335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1242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Sagents + LiveView + HITL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0E1FC9-823C-4FA7-93D4-2D26FFC08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381250"/>
            <a:ext cx="209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FBF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EEA2FA-55C5-4B82-8E98-66902FA88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5146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Reward delta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6E328B8-E1EF-4AC5-9B85-78B1CB767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743200"/>
            <a:ext cx="1790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463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6A8C2C-CB69-4C11-9A19-285D8604F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1242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safety vs naive avg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6E0E011-117D-4135-A085-0C0A9170B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381250"/>
            <a:ext cx="209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87FC3A5-DB85-46DF-A7F9-BCBFF1EB4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5146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Avoidance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45BE920-EDFB-42A3-ADC2-922D7681C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743200"/>
            <a:ext cx="1790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100%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DFB2CAB-C8AA-4310-A28D-2DFC35032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1242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baseline collapses recovered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C1511EB-0A09-4B44-95DF-21C59D05A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095750"/>
            <a:ext cx="8191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D122F4C-3455-4EF6-96ED-50E915B99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229100"/>
            <a:ext cx="7848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Judge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E82CBA6-4B3C-439C-9C10-17390C889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572000"/>
            <a:ext cx="784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Run one-click verifier proof -&gt; see unsafe rejection and safe recovery -&gt; run the separate live Gemma mission -&gt; inspect close_cycle.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BF2C530-425B-418F-8800-AE9C839FF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B1FF683-306D-4DC3-8F9F-A7DC66415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26787139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8EA78B0-BDAB-4033-AE74-2DB745EED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92C0F6-D573-40A8-9237-B608C7B6D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0563F2-C224-4D68-BD64-A1627C9B2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E9EBCC-BC0F-4ECD-A4DB-8A485CDF2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Prediction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49467D-444D-464A-8CCD-0CB133206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6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RLVR and anomaly forecasting turn the sim into an evaluator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7A2592-E004-40FB-AE52-6FEE72DEB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The same deterministic physics scores policies and forecasts near-term ammonia/oxygen risk without mutating live state.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C35A13-4A96-476E-AA26-99B555DCD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66950"/>
            <a:ext cx="3143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FBF1"/>
          </a:solidFill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E59CC1-417F-48A7-A199-F76C19E1C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0030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RLVR verifier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23A732-9694-420A-A5E9-B0AB51B1B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43200"/>
            <a:ext cx="280035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Naive and safety policies run across fixed scenarios. Reward combines survival, biomass, water quality, and mortality.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BB89E6-CF74-4552-8F78-CBF863901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266950"/>
            <a:ext cx="3143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 w="19050">
            <a:solidFill>
              <a:srgbClr val="0369A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3BDB90-21E8-424C-A9EF-443F0CFE3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40030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Anomaly forecast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D1722A-FA7B-4FE3-AB06-8F43705F0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743200"/>
            <a:ext cx="280035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GET /forecast/anomaly projects routine operation and reports stable, warning, or critical risk.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5CA4E1-4279-4F43-B89A-9A9970020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266950"/>
            <a:ext cx="3143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9050">
            <a:solidFill>
              <a:srgbClr val="15803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1552A1-E36E-46C0-9215-656C1E9F6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40030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Operator action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7F7F54-D413-4A7E-8CA6-CD76E6093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743200"/>
            <a:ext cx="280035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Forecast recommendations trigger safer feed, aeration, and verified water-exchange behavior before mortality.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D0C382-37C3-4D00-8C29-21845D1C5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BE725E-1E10-4B0B-BC9F-56308D769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81280945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49283AC-F4FC-48E7-A31F-449EF4BF4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514649-41D7-4556-B6F9-3244FE382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F8703E-EC27-4BA0-85A0-A79BAEF45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7C3C2D-7CEF-488B-AFD1-12E7CBAFB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Off-grid continuity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07ED9B-B02D-4D81-81E0-F55666753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6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Private field radio keeps the food control loop local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B66E91-B7EC-4CE3-BBDC-27222C170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No Wi-Fi for the tank hop. No cloud for inference. Solar-plus-battery power is the next measured field proof.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12F2DE-46FF-4361-AE44-6EFF0E8E3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2266950"/>
            <a:ext cx="20002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 w="19050">
            <a:solidFill>
              <a:srgbClr val="0369A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479D8F-5FF9-4E99-8C33-A2C5F7792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1657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PT tank node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960434-1461-4AD4-B46A-C95B4058D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43200"/>
            <a:ext cx="16573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nRF9151 at the tank. Physical board proven; chemistry probes integrate next.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BF952A-8AE9-41A5-8F62-C57EC9855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7241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E08895-3C92-44B9-97E2-CC94BD5AE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266950"/>
            <a:ext cx="23622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9050">
            <a:solidFill>
              <a:srgbClr val="15803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4CDA4B-00A7-4EB8-969C-530ED4F0E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400300"/>
            <a:ext cx="2019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DECT NR+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A3A624-F165-45FA-AFC7-276C7E758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743200"/>
            <a:ext cx="20193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Private non-cellular 5G hop. No Wi-Fi, SIM, or cloud. Sequence 100 proven.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5C5D32-AFC8-442C-9EEF-0DCCE4B4C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7241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3B9BA4-5010-4849-B6D2-D5BA0647E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66950"/>
            <a:ext cx="20002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 w="19050">
            <a:solidFill>
              <a:srgbClr val="0369A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D2A279-CD8E-445C-BCE0-D9A2D2E34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400300"/>
            <a:ext cx="1657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FT gateway radio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A1B4EE-54F1-499F-B7A3-C8C7E8865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743200"/>
            <a:ext cx="16573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nRF9151 receives the field packet and hands it to edge compute.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8548C5-FF76-48FE-8375-91FDB9ACF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7241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E0DAE48-F4A6-499A-B44F-49E6EEDE5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266950"/>
            <a:ext cx="29527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FBF1"/>
          </a:solidFill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B63914-1012-479C-A26E-CC7647AA1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400300"/>
            <a:ext cx="2609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Separate edge computer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D0BE11E-A9A7-4162-9B72-6D6A8DB3A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743200"/>
            <a:ext cx="26098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Self-hosted Gemma + deterministic verifier + producer workflow. The radios do not run the model.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4B54068-616F-452B-A77E-586602A53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14800"/>
            <a:ext cx="49530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9050">
            <a:solidFill>
              <a:srgbClr val="15803D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0FF54B2-E7B3-4FCD-AA90-859D62D40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248150"/>
            <a:ext cx="4610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Proven now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4FA1EB5-E2C1-467B-98F4-23AC51B55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591050"/>
            <a:ext cx="4610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Two-board bidirectional radio, local Gemma 4 E2B, offline rules, verifier gating, and producer approval.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5B41040-04F2-4FDE-8C76-E1EE605D4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114800"/>
            <a:ext cx="49530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19050">
            <a:solidFill>
              <a:srgbClr val="B4530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FDC83D0-E66B-4B55-AD35-4EF933A18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248150"/>
            <a:ext cx="4610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Next measured field proof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7BCBDFE-42B3-4E2A-97A2-53A1761B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591050"/>
            <a:ext cx="4610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Physical water probes, solar energy budget, battery autonomy, range, and regional spectrum approval.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F6490B2-E3A5-488D-A0AC-B750E424E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205F970-B233-48D6-B6DE-FBEDC59D9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91927082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41E26F2-A41B-407F-B9B3-5423A6B26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FF3448-DB05-4168-A854-00BE51BA8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AAF073-A141-4046-BCFE-84137A814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78CDF2-A03E-4387-AD7F-3B9A2B199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Producer UX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DF4545-02AF-4D8B-A8BC-2EB63CF5A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6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Human approval is control flow, not decoration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7EE0A3-4492-4238-9538-57FAC6B77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Risky water and harvest actions pause for the producer, while offline rules keep emergency guidance available.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A90F4D-7B4E-400A-9996-BEFCF2566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43150"/>
            <a:ext cx="31432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9050">
            <a:solidFill>
              <a:srgbClr val="15803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C99539-D27B-431D-9B02-4A15D2EE8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7650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Approve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DB69A7-FB12-4EC7-88D4-140E35616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19400"/>
            <a:ext cx="280035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Agent.resume executes the interrupted Sagents tool exactly once after producer approval.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07464A-6C7A-4D7C-ACDD-70BC4A794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343150"/>
            <a:ext cx="31432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19050">
            <a:solidFill>
              <a:srgbClr val="B4530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39306C-DCED-4E1E-84DD-D8C6BE769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47650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Half / Reject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7F444B-A3A2-41B7-BA71-E1E4658BD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819400"/>
            <a:ext cx="280035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Apply half is re-verified; rejection resumes with zero simulator mutation.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148609-0F2C-49B5-9805-EAD387A9C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343150"/>
            <a:ext cx="31432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 w="19050">
            <a:solidFill>
              <a:srgbClr val="0369A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39CEAC-0ABC-441F-80E4-9E2C31626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47650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Offline fallback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25B666-1EF1-426C-91B0-1DD18D94E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819400"/>
            <a:ext cx="280035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Deterministic English emergency instructions remain available without model or cloud access.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C924B0-76D0-4D4F-92DE-96A6DA3CC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7E8CA41-C5C0-42FB-8E14-2B9DD42A7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491965324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84ED88F-CCC4-434D-80DC-1797FA5CD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0B9326-59AB-4248-B212-89DF9C703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D40FDE-1493-4017-B263-7B7EAFF3C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9DD8DE-CA1B-4041-87A1-59B9EFA4F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Gemma runtime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9A65FA-DEF6-4B64-A46C-A800FED85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6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Self-hosted Gemma keeps reasoning on the farm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CC88EA-2D23-4BFF-87FD-B7DE6379F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The radios move field data; a separate edge computer runs AI and deterministic safety without cloud access.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6D4043-7273-4A76-9C80-C01813F43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38400"/>
            <a:ext cx="23812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FBF1"/>
          </a:solidFill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17890D-686F-4906-96E7-2B3A49D16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71750"/>
            <a:ext cx="2038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Sagents 0.9.0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4E4AB5-792D-44A8-9F59-8F994C475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914650"/>
            <a:ext cx="2038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Five agents, custom safety mode, until_tool_success, and resumable HITL.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6FC984-B7C0-48EE-B3A8-E2B718034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9146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B02A8B-7E64-4154-AD59-62492BFC7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476500"/>
            <a:ext cx="26670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 w="19050">
            <a:solidFill>
              <a:srgbClr val="0369A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FB8AF6-7B2F-47B3-A305-BC2E891A2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609850"/>
            <a:ext cx="2324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GEMMA_ENDPOINT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2E7F64-76F9-42C0-81E5-BDD42C2C1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952750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/v1/models and /v1/chat/completions; no code change for Fireworks or vLLM.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648B2C-746A-4DA0-A4D4-FDE960D72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9146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58CE89-9BFD-4024-9BDE-7BDF99EA8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476500"/>
            <a:ext cx="31432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19050">
            <a:solidFill>
              <a:srgbClr val="B4530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31BFC6-EA86-45A7-AA63-B1F77C89C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60985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Separate edge runtime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05430B-4122-4127-B90B-4BB1E5EEB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952750"/>
            <a:ext cx="2800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Gemma 4 E2B runs locally through llama.cpp + Metal. nRF9151 transports data; it does not run Gemma.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809F064-9766-46C9-AF00-7012C8EA0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324350"/>
            <a:ext cx="74295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0CC9EB9-88C1-4915-A300-84B171E7E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457700"/>
            <a:ext cx="7086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Verifier remains in front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344A3E-40B3-4D8C-A381-5CBA77D25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800600"/>
            <a:ext cx="7086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Local Gemma proposals cannot mutate state without deterministic safety. Solar autonomy is a planned power proof, not a current claim.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D9F15FB-1C35-4AA0-990F-BCA3DF511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D643F94-7F75-40D9-BE1A-FB2F4BB6B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956987174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48EB53D-4B37-479F-A477-F1C3A1465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AC4F58-0E08-4CF3-AB02-46EE2D420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A9D4CC-976D-4419-B9B0-A994C6E74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A13743-1DEB-4235-BC42-2BEA519DA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Submission ask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1ECFCF-975C-4177-807A-F2A8B244B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6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ProteinLoop is a startup pitch with executable proof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307B97-ED44-4883-A823-607706CAA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A food-security product built as a verifier-gated, human-aware, fault-tolerant agentic system.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DEBC5E-AEC9-4274-8392-6DFF38CD2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66950"/>
            <a:ext cx="328612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9050">
            <a:solidFill>
              <a:srgbClr val="15803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9AEA9D-165B-4882-BFE2-0CCEBFF75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00300"/>
            <a:ext cx="29432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Market wedge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D3D996-DFAC-4C65-99D9-2C0611B21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43200"/>
            <a:ext cx="2943225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Rural families and cooperatives where farm Wi-Fi, cloud access, and grid electricity cannot be assumed.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BF2D9B-34CC-4E0D-9AC0-668D7C86D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266950"/>
            <a:ext cx="328612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FBF1"/>
          </a:solidFill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92B4E5-0092-45FB-942B-318F6EB2C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400300"/>
            <a:ext cx="29432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Technical moat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397EBC-4EFF-4B9B-A701-5DF249D15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743200"/>
            <a:ext cx="2943225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Private DECT NR+ field transport, self-hosted Gemma, physics verifier, RLVR, resumable HITL, and real Sagents/Horde failover.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634005-FE98-4B52-B221-7BC3AE007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266950"/>
            <a:ext cx="328612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 w="19050">
            <a:solidFill>
              <a:srgbClr val="0369A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185D18-E63F-474C-991A-15678D039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400300"/>
            <a:ext cx="29432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What judges can run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7727B0-CB66-4C0F-99B7-FB2615A29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743200"/>
            <a:ext cx="2943225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Docker app, local Gemma E2B, five-agent loop, producer approval, and proven radio evidence with honest solar/sensor milestones.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F3D63A-5D74-4BDC-A252-BB0B8D4C0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5257800"/>
            <a:ext cx="8572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Ask: Best Unicorn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EEF3E1-2A79-4C72-8694-06E01F943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6B9955-79A1-4116-AB53-7D1738A55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44671871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2026-07-10T21:57:05.6020000Z</dcterms:created>
  <dcterms:modified xsi:type="dcterms:W3CDTF">2026-07-10T21:57:05.6020000Z</dcterms:modified>
</coreProperties>
</file>