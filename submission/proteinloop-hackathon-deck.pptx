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340d28b206947e9" /><Relationship Type="http://schemas.openxmlformats.org/officeDocument/2006/relationships/extended-properties" Target="/docProps/app.xml" Id="R594f037581804f82" /><Relationship Type="http://schemas.openxmlformats.org/officeDocument/2006/relationships/officeDocument" Target="/ppt/presentation.xml" Id="R1c95abae890e45a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7394484b6144a31"/>
  </p:sldMasterIdLst>
  <p:notesMasterIdLst>
    <p:notesMasterId xmlns:r="http://schemas.openxmlformats.org/officeDocument/2006/relationships" r:id="R96286468157c42c8"/>
  </p:notesMasterIdLst>
  <p:sldIdLst>
    <p:sldId xmlns:r="http://schemas.openxmlformats.org/officeDocument/2006/relationships" id="256" r:id="R38d02799261f4d20"/>
    <p:sldId xmlns:r="http://schemas.openxmlformats.org/officeDocument/2006/relationships" id="257" r:id="R57df318febc84a30"/>
    <p:sldId xmlns:r="http://schemas.openxmlformats.org/officeDocument/2006/relationships" id="258" r:id="R84abac6412c1452a"/>
    <p:sldId xmlns:r="http://schemas.openxmlformats.org/officeDocument/2006/relationships" id="259" r:id="R7613094a0e71404c"/>
    <p:sldId xmlns:r="http://schemas.openxmlformats.org/officeDocument/2006/relationships" id="260" r:id="R4c3edec5ecfa489c"/>
    <p:sldId xmlns:r="http://schemas.openxmlformats.org/officeDocument/2006/relationships" id="261" r:id="Rbb8802f502834553"/>
    <p:sldId xmlns:r="http://schemas.openxmlformats.org/officeDocument/2006/relationships" id="262" r:id="Rd3f0716a9b8f4545"/>
    <p:sldId xmlns:r="http://schemas.openxmlformats.org/officeDocument/2006/relationships" id="263" r:id="R801c90ec1a13462d"/>
    <p:sldId xmlns:r="http://schemas.openxmlformats.org/officeDocument/2006/relationships" id="264" r:id="R0443747809544dc5"/>
    <p:sldId xmlns:r="http://schemas.openxmlformats.org/officeDocument/2006/relationships" id="265" r:id="R97c17b4a004546e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394484b6144a31" /><Relationship Type="http://schemas.openxmlformats.org/officeDocument/2006/relationships/theme" Target="/ppt/theme/theme1.xml" Id="Rcbfb2e5c715b44b1" /><Relationship Type="http://schemas.openxmlformats.org/officeDocument/2006/relationships/notesMaster" Target="/ppt/notesMasters/notesMaster1.xml" Id="R96286468157c42c8" /><Relationship Type="http://schemas.openxmlformats.org/officeDocument/2006/relationships/presProps" Target="/ppt/presProps.xml" Id="R207a19cf33944dd5" /><Relationship Type="http://schemas.openxmlformats.org/officeDocument/2006/relationships/viewProps" Target="/ppt/viewProps.xml" Id="R7c93822d971c471a" /><Relationship Type="http://schemas.openxmlformats.org/officeDocument/2006/relationships/tableStyles" Target="/ppt/tableStyles.xml" Id="Rb4b80ab455b34a76" /><Relationship Type="http://schemas.openxmlformats.org/officeDocument/2006/relationships/slide" Target="/ppt/slides/slide1.xml" Id="R38d02799261f4d20" /><Relationship Type="http://schemas.openxmlformats.org/officeDocument/2006/relationships/slide" Target="/ppt/slides/slide2.xml" Id="R57df318febc84a30" /><Relationship Type="http://schemas.openxmlformats.org/officeDocument/2006/relationships/slide" Target="/ppt/slides/slide3.xml" Id="R84abac6412c1452a" /><Relationship Type="http://schemas.openxmlformats.org/officeDocument/2006/relationships/slide" Target="/ppt/slides/slide4.xml" Id="R7613094a0e71404c" /><Relationship Type="http://schemas.openxmlformats.org/officeDocument/2006/relationships/slide" Target="/ppt/slides/slide5.xml" Id="R4c3edec5ecfa489c" /><Relationship Type="http://schemas.openxmlformats.org/officeDocument/2006/relationships/slide" Target="/ppt/slides/slide6.xml" Id="Rbb8802f502834553" /><Relationship Type="http://schemas.openxmlformats.org/officeDocument/2006/relationships/slide" Target="/ppt/slides/slide7.xml" Id="Rd3f0716a9b8f4545" /><Relationship Type="http://schemas.openxmlformats.org/officeDocument/2006/relationships/slide" Target="/ppt/slides/slide8.xml" Id="R801c90ec1a13462d" /><Relationship Type="http://schemas.openxmlformats.org/officeDocument/2006/relationships/slide" Target="/ppt/slides/slide9.xml" Id="R0443747809544dc5" /><Relationship Type="http://schemas.openxmlformats.org/officeDocument/2006/relationships/slide" Target="/ppt/slides/slide10.xml" Id="R97c17b4a004546e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c2adf0d568e04de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1bb6d248fee416a" /><Relationship Type="http://schemas.openxmlformats.org/officeDocument/2006/relationships/notesMaster" Target="/ppt/notesMasters/notesMaster1.xml" Id="Re69e90586b3e4de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1f4ee59e5be453c" /><Relationship Type="http://schemas.openxmlformats.org/officeDocument/2006/relationships/notesMaster" Target="/ppt/notesMasters/notesMaster1.xml" Id="R38b8dd10a5044c9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9407656db6c4a0a" /><Relationship Type="http://schemas.openxmlformats.org/officeDocument/2006/relationships/notesMaster" Target="/ppt/notesMasters/notesMaster1.xml" Id="R32d2e4f9354045d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53196dce3494de2" /><Relationship Type="http://schemas.openxmlformats.org/officeDocument/2006/relationships/notesMaster" Target="/ppt/notesMasters/notesMaster1.xml" Id="R1233ad4e59ea449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9c2c8c386fe447d" /><Relationship Type="http://schemas.openxmlformats.org/officeDocument/2006/relationships/notesMaster" Target="/ppt/notesMasters/notesMaster1.xml" Id="Rd2d577b5261f4da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aa8f00930d04892" /><Relationship Type="http://schemas.openxmlformats.org/officeDocument/2006/relationships/notesMaster" Target="/ppt/notesMasters/notesMaster1.xml" Id="R60ad5d63282b438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d20026c5c9d4bf7" /><Relationship Type="http://schemas.openxmlformats.org/officeDocument/2006/relationships/notesMaster" Target="/ppt/notesMasters/notesMaster1.xml" Id="R17d14da333954f7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d988040c3af4e33" /><Relationship Type="http://schemas.openxmlformats.org/officeDocument/2006/relationships/notesMaster" Target="/ppt/notesMasters/notesMaster1.xml" Id="R20dc877c489c442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bcd1c96bbd245d0" /><Relationship Type="http://schemas.openxmlformats.org/officeDocument/2006/relationships/notesMaster" Target="/ppt/notesMasters/notesMaster1.xml" Id="Rc856cf40d3ab459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7990cf6cf314b37" /><Relationship Type="http://schemas.openxmlformats.org/officeDocument/2006/relationships/notesMaster" Target="/ppt/notesMasters/notesMaster1.xml" Id="R11166fe9a6294bd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0a037c259845fc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d11b91c329c94092" /><Relationship Type="http://schemas.openxmlformats.org/officeDocument/2006/relationships/slideLayout" Target="/ppt/slideLayouts/slideLayout2.xml" Id="R91f4be214b6c410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1f4be214b6c410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dd1bfa19c343d4" /><Relationship Type="http://schemas.openxmlformats.org/officeDocument/2006/relationships/image" Target="/ppt/media/image.png" Id="R33fa05e25c904dd5" /><Relationship Type="http://schemas.openxmlformats.org/officeDocument/2006/relationships/notesSlide" Target="/ppt/notesSlides/notesSlide1.xml" Id="Ra9e6da72f6504a8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0acf5d8a99f4e9f" /><Relationship Type="http://schemas.openxmlformats.org/officeDocument/2006/relationships/notesSlide" Target="/ppt/notesSlides/notesSlide2.xml" Id="R91cf53fc34b443d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3805dc17813404a" /><Relationship Type="http://schemas.openxmlformats.org/officeDocument/2006/relationships/image" Target="/ppt/media/image2.png" Id="Rc62003c502f04f87" /><Relationship Type="http://schemas.openxmlformats.org/officeDocument/2006/relationships/notesSlide" Target="/ppt/notesSlides/notesSlide3.xml" Id="Rfa31a59c4772472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7547ffc4d5d4990" /><Relationship Type="http://schemas.openxmlformats.org/officeDocument/2006/relationships/image" Target="/ppt/media/image3.png" Id="Rf90636c78c134848" /><Relationship Type="http://schemas.openxmlformats.org/officeDocument/2006/relationships/notesSlide" Target="/ppt/notesSlides/notesSlide4.xml" Id="Ra083cc755c3b457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b8b6444603044c6" /><Relationship Type="http://schemas.openxmlformats.org/officeDocument/2006/relationships/notesSlide" Target="/ppt/notesSlides/notesSlide5.xml" Id="Rbcc0cfca44344eb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13c9e8570bb4ac3" /><Relationship Type="http://schemas.openxmlformats.org/officeDocument/2006/relationships/notesSlide" Target="/ppt/notesSlides/notesSlide6.xml" Id="R855b6248481b48a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181e2592a94cf3" /><Relationship Type="http://schemas.openxmlformats.org/officeDocument/2006/relationships/notesSlide" Target="/ppt/notesSlides/notesSlide7.xml" Id="R368605a69adb4d2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4429b0645a4b7a" /><Relationship Type="http://schemas.openxmlformats.org/officeDocument/2006/relationships/notesSlide" Target="/ppt/notesSlides/notesSlide8.xml" Id="Rdafd720a832b4c7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646110503c04e0a" /><Relationship Type="http://schemas.openxmlformats.org/officeDocument/2006/relationships/notesSlide" Target="/ppt/notesSlides/notesSlide9.xml" Id="R3fbb795cfa7843f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31ed6c481d4036" /><Relationship Type="http://schemas.openxmlformats.org/officeDocument/2006/relationships/image" Target="/ppt/media/image4.png" Id="R3f5532d1efd44792" /><Relationship Type="http://schemas.openxmlformats.org/officeDocument/2006/relationships/notesSlide" Target="/ppt/notesSlides/notesSlide10.xml" Id="R43672c554cdc4d9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fa05e25c904dd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51745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46462B5-8C8C-4F58-8567-05A34B0CD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922CAF-8C90-4B5C-8BD0-375CB4979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EA79C6-CE21-4BAC-9F58-4F424368F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EF2683-7872-4B18-AD3A-1F1D5A739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425466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9F0B81-4C40-426E-87A1-AD6BCE1E2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04850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9485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D9485F"/>
                </a:solidFill>
                <a:latin typeface="Aptos"/>
                <a:ea typeface="Aptos"/>
                <a:cs typeface="Aptos"/>
              </a:rPr>
              <a:t>ONE LOOP, SHARED RISK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675C55-5AF6-4662-87EF-1EE2F00F9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990600"/>
            <a:ext cx="6191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rPr>
              <a:t>A chemistry failure does not stop at the vegetables.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6FD737-AA3B-4156-A6C4-2F26A74BE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47900"/>
            <a:ext cx="5619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Fish and prawns breathe the water. Plants clean it. Duckweed stores feed. Eggs depend on what survives upstream.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1ADAF7-AAFD-424D-AD42-A05410940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38550"/>
            <a:ext cx="5619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8EC"/>
          </a:solidFill>
          <a:ln xmlns:a="http://schemas.openxmlformats.org/drawingml/2006/main" w="0">
            <a:solidFill>
              <a:srgbClr val="D9485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3B9396-7FA1-498A-8481-1039C758F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9485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D9485F"/>
                </a:solidFill>
                <a:latin typeface="Aptos"/>
                <a:ea typeface="Aptos"/>
                <a:cs typeface="Aptos"/>
              </a:rPr>
              <a:t>One ammonia spike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9BF94B-59EA-438D-B3A0-D461DFF8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24350"/>
            <a:ext cx="5143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B1F2A"/>
                </a:solidFill>
                <a:latin typeface="Aptos"/>
                <a:ea typeface="Aptos"/>
                <a:cs typeface="Aptos"/>
              </a:rPr>
              <a:t>can threaten every protein output in the loop.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C67D3A-82D5-4F3A-90AC-5A50E216F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123950"/>
            <a:ext cx="3810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F096E5-0822-4D34-BC89-19DB6F7C8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30492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D5D926-928E-4EAE-8963-EE0547845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971550"/>
            <a:ext cx="304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14.5 kg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1F29BC-8043-4AE4-8C69-1D3C44FB6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24000"/>
            <a:ext cx="3048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fish + prawn stock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F7FD9D-2A46-47C8-B59F-33B84B0BE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88607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F7F53C-A0CB-45F1-BE9D-C3D74B8A1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552700"/>
            <a:ext cx="304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5.0 kg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F7A45D-22C0-4B52-AA94-36DB71B1E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105150"/>
            <a:ext cx="3048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plants cleaning water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E553E7-C58A-4B6D-BE79-0328D4B14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46722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C188F8-B086-4B63-9674-C1911EE64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133850"/>
            <a:ext cx="304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eggs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9A977C-7C98-4D7C-872F-52BAFA816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686300"/>
            <a:ext cx="3048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downstream protein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9E2A72-88E7-46F1-8112-5DF79726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F8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F88"/>
                </a:solidFill>
                <a:latin typeface="Aptos"/>
                <a:ea typeface="Aptos"/>
                <a:cs typeface="Aptos"/>
              </a:rPr>
              <a:t>ProteinLoop measures the animal-protein outcome instead of treating it as a hidden side effect.</a:t>
            </a:r>
          </a:p>
        </p:txBody>
      </p:sp>
    </p:spTree>
    <p:extLst>
      <p:ext uri="{BB962C8B-B14F-4D97-AF65-F5344CB8AC3E}">
        <p14:creationId xmlns:p14="http://schemas.microsoft.com/office/powerpoint/2010/main" val="163241233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294494E-0120-47F0-8117-CD8C2291E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1D227D-9597-49B0-BE4C-A1B11A361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5AAD2A-AECE-46D3-B69E-1A8A18424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4A4F29-9319-4B14-B162-13609F23F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425466"/>
                </a:solidFill>
                <a:latin typeface="Aptos"/>
                <a:ea typeface="Aptos"/>
                <a:cs typeface="Aptos"/>
              </a:rPr>
              <a:t>PRODUCT PROOF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05E10A-EBF3-43D0-9DF1-8CBD92C15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66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rPr>
              <a:t>A living system people can understand in seconds.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A50002-81B7-42F7-8751-F10D8DA67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143000"/>
            <a:ext cx="9239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The deployed operator view connects animal behavior, plain-language chemistry, biomass, and action in one scene.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A1F08C-E8A0-4149-88CA-25A38175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11353800" cy="407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8DC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2003c502f04f87"/>
          <a:stretch xmlns:a="http://schemas.openxmlformats.org/drawingml/2006/main"/>
        </p:blipFill>
        <p:spPr>
          <a:xfrm xmlns:a="http://schemas.openxmlformats.org/drawingml/2006/main">
            <a:off x="1929822" y="1790700"/>
            <a:ext cx="8294256" cy="38481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D650F8-41EC-42B1-8B05-DC6883307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8645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3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47230A-4E2B-4D05-8625-CFA7721C4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53125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687C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687C8"/>
                </a:solidFill>
                <a:latin typeface="Aptos"/>
                <a:ea typeface="Aptos"/>
                <a:cs typeface="Aptos"/>
              </a:rPr>
              <a:t>SEE THE ANIMALS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A24798-1405-4EC0-814E-E10B8B7B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886450"/>
            <a:ext cx="2247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7E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A13A91-2943-4E1D-BFBB-F5FEFEB2B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953125"/>
            <a:ext cx="2057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UNDERSTAND THE WATER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3F9C47-9587-41EC-819D-EC468D0C4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5886450"/>
            <a:ext cx="1962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379DB2-2D19-4B5D-9F3D-9F3436AF9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953125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ACT WITH 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BACC30-26D5-431C-BDD2-E71AD63D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F8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F88"/>
                </a:solidFill>
                <a:latin typeface="Aptos"/>
                <a:ea typeface="Aptos"/>
                <a:cs typeface="Aptos"/>
              </a:rPr>
              <a:t>Real deployed UI at proteinloop.dev-vb.lat; the tank is rendered live, not a looping video.</a:t>
            </a:r>
          </a:p>
        </p:txBody>
      </p:sp>
    </p:spTree>
    <p:extLst>
      <p:ext uri="{BB962C8B-B14F-4D97-AF65-F5344CB8AC3E}">
        <p14:creationId xmlns:p14="http://schemas.microsoft.com/office/powerpoint/2010/main" val="173386387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0636c78c134848"/>
          <a:srcRect xmlns:a="http://schemas.openxmlformats.org/drawingml/2006/main" l="0" t="5284" r="0" b="52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F88573-4C4C-4514-BFED-95AEBB555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D3C">
              <a:alpha val="9333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BFE0CC-46B2-4D18-B03D-D4905F1E7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0500"/>
            <a:ext cx="685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recovery is visible while it happens.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C68F2D-2E32-4973-AFBA-FE9B2A28C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266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7952F1-8135-4CBB-9237-3C5585A61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620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719457-90C0-4AA3-A2C8-9038A336D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781050"/>
            <a:ext cx="266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D9CE92-AF8C-452E-ACB8-8C0B80647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7620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 specialists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BC3B84-D63B-4579-A072-092992E12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781050"/>
            <a:ext cx="266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F1B700-4C06-46DE-BF67-9E0655419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7620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Supervisor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7C4617-11FA-48D4-984A-A598D631F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781050"/>
            <a:ext cx="266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81CA8E-E12D-42D4-B206-6C143C4F5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7620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FECFAF-88FA-4D9E-B721-1215D29B3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781050"/>
            <a:ext cx="266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A50441-9D1D-46F1-9040-C6BB10996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20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Measure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84A160-B9E2-4A19-8971-2BB888064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DB6C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DB6C0"/>
                </a:solidFill>
                <a:latin typeface="Aptos"/>
                <a:ea typeface="Aptos"/>
                <a:cs typeface="Aptos"/>
              </a:rPr>
              <a:t>Structured events and tool outcomes are visible; private model chain-of-thought is not presented as evidence.</a:t>
            </a:r>
          </a:p>
        </p:txBody>
      </p:sp>
    </p:spTree>
    <p:extLst>
      <p:ext uri="{BB962C8B-B14F-4D97-AF65-F5344CB8AC3E}">
        <p14:creationId xmlns:p14="http://schemas.microsoft.com/office/powerpoint/2010/main" val="155241694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2B7C48-1B1E-4C6D-AE28-F33DF9EB7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41B11E-4184-48B3-B993-8D1000729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E170B7-6EC4-4CD0-8737-E815B215E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52C7D6-2D3E-4452-BA26-801D1FCFD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425466"/>
                </a:solidFill>
                <a:latin typeface="Aptos"/>
                <a:ea typeface="Aptos"/>
                <a:cs typeface="Aptos"/>
              </a:rPr>
              <a:t>SAFETY BOUNDARY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1120DE-8184-42E4-A0AA-526D91CD1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668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rPr>
              <a:t>The model can recommend. It cannot mutate.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CADF46-25EF-4E82-8C0A-0B320A637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257300"/>
            <a:ext cx="7810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Authority moves left to right. Every connector ends at an explicit decision boundary.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44BC6F-ABB4-458E-BDD8-95BA27FB7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76450"/>
            <a:ext cx="20193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7EF"/>
          </a:solidFill>
          <a:ln xmlns:a="http://schemas.openxmlformats.org/drawingml/2006/main" w="19050">
            <a:solidFill>
              <a:srgbClr val="087F7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39006C-F361-4CA5-888E-C83B1A37C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098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6DEC20-CD61-4CD7-9839-6B5A156A1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6695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64768B-F4DD-4AC0-85C8-8EC892FB0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09800"/>
            <a:ext cx="1314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Gemma specialists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09A3D7-FE62-4DB6-85F9-96D9098E5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33650"/>
            <a:ext cx="1676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Fish, prawns, plants, and feed-loop briefs.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8C3C2F-DB57-4147-8F87-340B32CF6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695575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17FE19-DF8E-404F-A67D-60880915A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609850"/>
            <a:ext cx="28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9DF536-DF4D-4EC1-96F6-BEDD6466D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076450"/>
            <a:ext cx="18097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3FB"/>
          </a:solidFill>
          <a:ln xmlns:a="http://schemas.openxmlformats.org/drawingml/2006/main" w="19050">
            <a:solidFill>
              <a:srgbClr val="1687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D7A776-5C60-4800-9593-CE0682198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2098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3B40CD-66BA-42C0-8F70-E8EEB7F4E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26695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46D0BA-FE92-4385-92EA-A6A2D8CB1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209800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Supervisor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D3BF54-C6F9-44B3-9052-3B40EE626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33650"/>
            <a:ext cx="14668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One bounded proposal.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111F96-F03B-43B4-874D-D63838CAB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695575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2F1B77-BC68-48DD-8358-0139CFD12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609850"/>
            <a:ext cx="28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87C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687C8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723775-EE07-42BF-BD8B-9E10ABACE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885950"/>
            <a:ext cx="23241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5"/>
          </a:solidFill>
          <a:ln xmlns:a="http://schemas.openxmlformats.org/drawingml/2006/main" w="19050">
            <a:solidFill>
              <a:srgbClr val="EF6C2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8326FA-CDFD-427B-8328-640AA4B7B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193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EABD33-797D-4606-BDAC-0A0979F50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7645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8660E5-6054-489D-9ECF-4C591EF99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19300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Deterministic verifier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E1D275-421E-4E53-9816-922B09970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343150"/>
            <a:ext cx="19812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Checks chemistry, feed, water exchange, reserve, and collapse rules.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38062E-EAF7-4041-B3E4-6C4719EF6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95575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E76D4A-6136-4207-ABA2-A5CB60438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609850"/>
            <a:ext cx="28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B51E8B-C608-45A9-8F33-855C0900D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76450"/>
            <a:ext cx="23431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19050">
            <a:solidFill>
              <a:srgbClr val="2F9E6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2A4424-00B2-4372-8E57-6C30B80C8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098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9E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CC922D6-C732-4874-ACA3-C0542095A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6695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EC708B-AB58-41E2-AB2B-A396E9E78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09800"/>
            <a:ext cx="1638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Simulator mutation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67CB57F-01C0-431B-9295-62EFD9400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533650"/>
            <a:ext cx="200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Only admitted actions change state.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60AB8C7-4366-4921-8ACD-B2155DF54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095750"/>
            <a:ext cx="54864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8EC"/>
          </a:solidFill>
          <a:ln xmlns:a="http://schemas.openxmlformats.org/drawingml/2006/main" w="19050">
            <a:solidFill>
              <a:srgbClr val="D9485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182EC37-FD3B-4690-A189-0EEC0A787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305300"/>
            <a:ext cx="1295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9485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9485F"/>
                </a:solidFill>
                <a:latin typeface="Aptos"/>
                <a:ea typeface="Aptos"/>
                <a:cs typeface="Aptos"/>
              </a:rPr>
              <a:t>UNSAFE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AF7D5DB-201C-481D-9E9F-B8C17F81F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229100"/>
            <a:ext cx="3600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0B1F2A"/>
                </a:solidFill>
                <a:latin typeface="Aptos"/>
                <a:ea typeface="Aptos"/>
                <a:cs typeface="Aptos"/>
              </a:rPr>
              <a:t>Rejected before mutation and written to the RLVR trace.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5F08CE0-DC2D-4A17-9D32-9E038FE0A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581400"/>
            <a:ext cx="285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8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8407A9C-E8F6-4E90-94DD-2AB9A7A18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7909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9485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9485F"/>
                </a:solidFill>
                <a:latin typeface="Aptos"/>
                <a:ea typeface="Aptos"/>
                <a:cs typeface="Aptos"/>
              </a:rPr>
              <a:t>v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40174CF-6E94-4CD7-8440-FA494170F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F8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F88"/>
                </a:solidFill>
                <a:latin typeface="Aptos"/>
                <a:ea typeface="Aptos"/>
                <a:cs typeface="Aptos"/>
              </a:rPr>
              <a:t>verify_ecosystem_safety is the only authority allowed to admit simulator mutation.</a:t>
            </a:r>
          </a:p>
        </p:txBody>
      </p:sp>
    </p:spTree>
    <p:extLst>
      <p:ext uri="{BB962C8B-B14F-4D97-AF65-F5344CB8AC3E}">
        <p14:creationId xmlns:p14="http://schemas.microsoft.com/office/powerpoint/2010/main" val="83213954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308586-3D90-4545-AC5F-54086F265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D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E6F4A1-F4F9-45FA-B0D1-71C506509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C6A2A3-1E51-4F45-A310-79E3D2CF9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EE7D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EE7D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AE7196-9684-4B81-95AD-40468CE17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B7CBD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B7CBD3"/>
                </a:solidFill>
                <a:latin typeface="Aptos"/>
                <a:ea typeface="Aptos"/>
                <a:cs typeface="Aptos"/>
              </a:rPr>
              <a:t>EXECUTABLE EVIDENCE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22D363-DF2B-45EB-9896-2E160046B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668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Safety is demonstrated, not narrated.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0CFC11-DC22-40C6-BB7E-8138D7B77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333500"/>
            <a:ext cx="7524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The simulator is simultaneously the product demo, the policy evaluator, and the RLVR source of truth.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2ABC96-6BB2-4524-B7E0-CF101684D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1336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63C7F2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63C7F2"/>
                </a:solidFill>
                <a:latin typeface="Aptos"/>
                <a:ea typeface="Aptos"/>
                <a:cs typeface="Aptos"/>
              </a:rPr>
              <a:t>220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1E0300-5C6E-46D0-A9AC-761CC36F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762250"/>
            <a:ext cx="2190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Python tests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781EB5-8428-4BAA-B486-254AA28AF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289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AD0D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AD0D8"/>
                </a:solidFill>
                <a:latin typeface="Aptos"/>
                <a:ea typeface="Aptos"/>
                <a:cs typeface="Aptos"/>
              </a:rPr>
              <a:t>simulator, verifier, API, 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CAB699-A7A8-4FF5-B0AF-5C1DAF2F3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90900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C7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C0D509-3035-42DE-A523-66A0E910B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1336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76D9AD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76D9AD"/>
                </a:solidFill>
                <a:latin typeface="Aptos"/>
                <a:ea typeface="Aptos"/>
                <a:cs typeface="Aptos"/>
              </a:rPr>
              <a:t>141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126240-12C7-4E14-A648-598930D31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762250"/>
            <a:ext cx="2190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Phoenix tests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3BE23D-365C-4727-A0E5-867742B8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0289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AD0D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AD0D8"/>
                </a:solidFill>
                <a:latin typeface="Aptos"/>
                <a:ea typeface="Aptos"/>
                <a:cs typeface="Aptos"/>
              </a:rPr>
              <a:t>Sagents, LiveView, producer control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893F1B-1AAB-4703-908D-D52F53713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390900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D9A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2909C0-C5CA-49FB-A8AB-BFFEDA3DB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1336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2C94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F2C94C"/>
                </a:solidFill>
                <a:latin typeface="Aptos"/>
                <a:ea typeface="Aptos"/>
                <a:cs typeface="Aptos"/>
              </a:rPr>
              <a:t>+463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B24B25-BA8C-4A79-B678-26B5436E9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762250"/>
            <a:ext cx="2190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reward delta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517E55-9F64-4636-9D5F-7ED476C18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0289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AD0D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AD0D8"/>
                </a:solidFill>
                <a:latin typeface="Aptos"/>
                <a:ea typeface="Aptos"/>
                <a:cs typeface="Aptos"/>
              </a:rPr>
              <a:t>verified policy versus naive average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D76AFB-FD07-4A12-8622-2C4FF041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90900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94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931D01-412D-49BA-A37B-462386E77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1336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8E5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FF8E5C"/>
                </a:solidFill>
                <a:latin typeface="Aptos"/>
                <a:ea typeface="Aptos"/>
                <a:cs typeface="Aptos"/>
              </a:rPr>
              <a:t>100%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C09BB6-84DE-4017-A6BF-BF7259D39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762250"/>
            <a:ext cx="2190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collapse avoidance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92B33E-6A18-4936-8B16-FC95C72B7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0289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AD0D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AD0D8"/>
                </a:solidFill>
                <a:latin typeface="Aptos"/>
                <a:ea typeface="Aptos"/>
                <a:cs typeface="Aptos"/>
              </a:rPr>
              <a:t>fixed baseline scenarios recovered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F966BD-EBB6-4A5F-B63E-9074A62B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390900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E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0B4F87-6DDF-45F2-8843-7670B1F8A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48150"/>
            <a:ext cx="10763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F50"/>
          </a:solidFill>
          <a:ln xmlns:a="http://schemas.openxmlformats.org/drawingml/2006/main" w="9525">
            <a:solidFill>
              <a:srgbClr val="315B6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65AD63-7831-4D27-867B-099B8DE76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5770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EE7D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8EE7D5"/>
                </a:solidFill>
                <a:latin typeface="Aptos"/>
                <a:ea typeface="Aptos"/>
                <a:cs typeface="Aptos"/>
              </a:rPr>
              <a:t>ONE-CLICK JUDGE PROOF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66B103-F1DA-4C66-B71E-E6064BDBB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19650"/>
            <a:ext cx="981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Inject emergency  -&gt;  block unsafe proposal  -&gt;  admit safe recovery  -&gt;  inspect measured chemistry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E81312-BED0-4073-BA0E-1E8540376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DB6C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DB6C0"/>
                </a:solidFill>
                <a:latin typeface="Aptos"/>
                <a:ea typeface="Aptos"/>
                <a:cs typeface="Aptos"/>
              </a:rPr>
              <a:t>Verified July 12, 2026: 220 Python and 141 Phoenix tests, zero failures.</a:t>
            </a:r>
          </a:p>
        </p:txBody>
      </p:sp>
    </p:spTree>
    <p:extLst>
      <p:ext uri="{BB962C8B-B14F-4D97-AF65-F5344CB8AC3E}">
        <p14:creationId xmlns:p14="http://schemas.microsoft.com/office/powerpoint/2010/main" val="172645915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9C5BC7E-F604-448D-A9EB-ACB92D1EF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CBEBCB-172E-42E2-B8CC-7BD570052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A256BC-3AB7-4E39-90BB-9F1B4B19D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DBFF70-3CC8-457A-A3F5-8F8BB19E9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425466"/>
                </a:solidFill>
                <a:latin typeface="Aptos"/>
                <a:ea typeface="Aptos"/>
                <a:cs typeface="Aptos"/>
              </a:rPr>
              <a:t>OFF-GRID ARCHITECTURE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3E4817-CBCD-4DCD-ABBD-937A0C225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668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rPr>
              <a:t>Keep the food-control loop local.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7504F4-21B0-4EB7-B052-BDEFCEA67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181100"/>
            <a:ext cx="7810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Three continuity layers separate transport, intelligence, and power claims.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2F570C-32EE-47C4-BABD-A2420A5BB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0"/>
            <a:ext cx="16573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5"/>
          </a:solidFill>
          <a:ln xmlns:a="http://schemas.openxmlformats.org/drawingml/2006/main" w="19050">
            <a:solidFill>
              <a:srgbClr val="EF6C2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A22EAF-3085-422C-BF65-2D7DAFE8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1390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Tank probes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926614-A5EE-44A9-8B89-3823E6F33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00350"/>
            <a:ext cx="1428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next integration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A2890E-A9B8-4134-95B5-8A15CDA00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638425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FDD1C7-D47C-4F8D-8D95-5D6685542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286000"/>
            <a:ext cx="16573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3FB"/>
          </a:solidFill>
          <a:ln xmlns:a="http://schemas.openxmlformats.org/drawingml/2006/main" w="19050">
            <a:solidFill>
              <a:srgbClr val="1687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DD9C97-D678-44E2-8DE0-CEDEC3D1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457450"/>
            <a:ext cx="1390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nRF9151 PT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681DA1-BBFC-483A-8F46-49CD757F4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800350"/>
            <a:ext cx="1428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physical tank radio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AEB346-7F11-4DCC-B56D-BD833C68C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38425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39E485-ACE9-437A-82FD-55FAF883F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286000"/>
            <a:ext cx="16573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19050">
            <a:solidFill>
              <a:srgbClr val="2F9E6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7A5D78-D257-41F9-A5D5-17BF47E78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457450"/>
            <a:ext cx="1390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DECT NR+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6825AC-68D9-44E5-BCC4-9BFD9987C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00350"/>
            <a:ext cx="1428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no Wi-Fi / SIM / cloud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161F36-72DB-4AD7-9D17-105149637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638425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A6FE88-91C6-4AEE-9F5A-35D4E94ED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286000"/>
            <a:ext cx="16573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3FB"/>
          </a:solidFill>
          <a:ln xmlns:a="http://schemas.openxmlformats.org/drawingml/2006/main" w="19050">
            <a:solidFill>
              <a:srgbClr val="1687C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64DBDF-0FA4-45F7-89E0-371DCC32E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57450"/>
            <a:ext cx="1390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nRF9151 FT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132576-5B84-4B46-AF24-37F11E3CE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800350"/>
            <a:ext cx="1428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physical gateway radio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3A5CA6-2BA4-4E74-A935-F58561A6A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638425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FEB81C-6330-4398-BB42-66B7621AD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286000"/>
            <a:ext cx="15049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7EF"/>
          </a:solidFill>
          <a:ln xmlns:a="http://schemas.openxmlformats.org/drawingml/2006/main" w="19050">
            <a:solidFill>
              <a:srgbClr val="087F7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8D6876-4C76-44F4-82A4-F9C58ECC9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457450"/>
            <a:ext cx="1238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Edge computer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530FBA-0CCC-4571-8FED-738251BDA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800350"/>
            <a:ext cx="1276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Gemma + verifier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AF26D5-5C3A-461F-8E47-645C58099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43100"/>
            <a:ext cx="952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BE54D0-CEC9-4158-8E8B-BF21BCB77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09775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NEXT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2D35EC-1727-42D0-9C1E-4A3B6A27F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943100"/>
            <a:ext cx="1047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5EBA9E-D457-4442-A366-FC9E9A42C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009775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F9E6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F9E66"/>
                </a:solidFill>
                <a:latin typeface="Aptos"/>
                <a:ea typeface="Aptos"/>
                <a:cs typeface="Aptos"/>
              </a:rPr>
              <a:t>PROVEN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6748F60-36C6-49AA-B578-BFA8E103F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943100"/>
            <a:ext cx="1047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27574E2-2C9C-4E68-9A00-4F3E8864D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09775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F9E6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F9E66"/>
                </a:solidFill>
                <a:latin typeface="Aptos"/>
                <a:ea typeface="Aptos"/>
                <a:cs typeface="Aptos"/>
              </a:rPr>
              <a:t>PROVEN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4CE123A-E330-416C-B03F-BD210562C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943100"/>
            <a:ext cx="1047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90A8DF5-32B5-48CD-BA66-040102201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009775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F9E6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F9E66"/>
                </a:solidFill>
                <a:latin typeface="Aptos"/>
                <a:ea typeface="Aptos"/>
                <a:cs typeface="Aptos"/>
              </a:rPr>
              <a:t>PROVEN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9FC5B26-9B0D-4752-9C16-292574296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1943100"/>
            <a:ext cx="1047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FBE4CF8-CDB4-4A0C-B6EB-AC2C5F261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009775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F9E6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F9E66"/>
                </a:solidFill>
                <a:latin typeface="Aptos"/>
                <a:ea typeface="Aptos"/>
                <a:cs typeface="Aptos"/>
              </a:rPr>
              <a:t>PROVEN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7A62D3B-EF56-4217-9A35-DB6DC759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81450"/>
            <a:ext cx="1053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4E56205-66AC-4D65-830A-B6E64123D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6245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7C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687C8"/>
                </a:solidFill>
                <a:latin typeface="Aptos"/>
                <a:ea typeface="Aptos"/>
                <a:cs typeface="Aptos"/>
              </a:rPr>
              <a:t>NO WI-FI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404ECB0-E01D-4612-8967-B6A1E7299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24400"/>
            <a:ext cx="3105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DECT NR+ carries the tank-to-gateway hop.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60BE7C3-1D54-4259-AE30-6C25C4B8D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36245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NO CLOUD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D170914-7D49-4BEC-BAE3-63AA2FCA9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24400"/>
            <a:ext cx="3105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Self-hosted Gemma and deterministic rules remain local.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C22A0C-1593-4B28-976A-53A060403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36245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NO GRID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4C48996-97EE-4489-AF0C-7A8872825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724400"/>
            <a:ext cx="3105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Solar + battery is the next measured autonomy proof.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AC1BE02-8C30-49CD-87E6-C7D433FC3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F8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F88"/>
                </a:solidFill>
                <a:latin typeface="Aptos"/>
                <a:ea typeface="Aptos"/>
                <a:cs typeface="Aptos"/>
              </a:rPr>
              <a:t>Physical chemistry acquisition and measured solar autonomy are future field proofs, not current claims.</a:t>
            </a:r>
          </a:p>
        </p:txBody>
      </p:sp>
    </p:spTree>
    <p:extLst>
      <p:ext uri="{BB962C8B-B14F-4D97-AF65-F5344CB8AC3E}">
        <p14:creationId xmlns:p14="http://schemas.microsoft.com/office/powerpoint/2010/main" val="93044857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8E81E29-C66E-4208-AD8F-64A046210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9E803A-6FD8-4622-A0E8-A06B8C178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1A3A9D-50E4-4874-B5FD-99C872776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A72932-C173-43D4-9BFA-5236847D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425466"/>
                </a:solidFill>
                <a:latin typeface="Aptos"/>
                <a:ea typeface="Aptos"/>
                <a:cs typeface="Aptos"/>
              </a:rPr>
              <a:t>PRODUCER CONTROL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938493-8BB8-43CB-9249-921D99348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5715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rPr>
              <a:t>Risky actions stop for a human decision.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7D83CB-5C30-4B5C-ACA5-0A2EECCD1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5143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The producer sees the proposed change, safety result, and current chemistry before choosing what happens next.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187B72-518F-4D96-BF7C-BB2132F5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14700"/>
            <a:ext cx="4953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No irreversible action</a:t>
            </a:r>
          </a:p>
          <a:p xmlns:a="http://schemas.openxmlformats.org/drawingml/2006/main">
            <a:pPr algn="l">
              <a:defRPr sz="25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runs silently.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4AFE48-93FD-4609-AF3E-133AF77C6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066800"/>
            <a:ext cx="44005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19050">
            <a:solidFill>
              <a:srgbClr val="2F9E6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AB7733-8ACA-4DC2-A273-594EB4A9F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276350"/>
            <a:ext cx="1257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9E6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F9E66"/>
                </a:solidFill>
                <a:latin typeface="Aptos"/>
                <a:ea typeface="Aptos"/>
                <a:cs typeface="Aptos"/>
              </a:rPr>
              <a:t>APPROVE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95E171-6308-45DB-A771-1CC21F63B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25730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B1F2A"/>
                </a:solidFill>
                <a:latin typeface="Aptos"/>
                <a:ea typeface="Aptos"/>
                <a:cs typeface="Aptos"/>
              </a:rPr>
              <a:t>Execute the verified proposal exactly once.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26C90A-1A0E-48F9-A398-46F1F1DBF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00300"/>
            <a:ext cx="44005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5"/>
          </a:solidFill>
          <a:ln xmlns:a="http://schemas.openxmlformats.org/drawingml/2006/main" w="19050">
            <a:solidFill>
              <a:srgbClr val="EF6C2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FEDED0-7A42-40C8-A3AC-2A8DC31C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609850"/>
            <a:ext cx="1257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APPLY HALF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8A929D-4352-4AEE-8D80-5FD85058F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59080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B1F2A"/>
                </a:solidFill>
                <a:latin typeface="Aptos"/>
                <a:ea typeface="Aptos"/>
                <a:cs typeface="Aptos"/>
              </a:rPr>
              <a:t>Reduce the action, then verify the edited amount again.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113D97-1AFA-4067-948E-040035DDB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33800"/>
            <a:ext cx="44005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8EC"/>
          </a:solidFill>
          <a:ln xmlns:a="http://schemas.openxmlformats.org/drawingml/2006/main" w="19050">
            <a:solidFill>
              <a:srgbClr val="D9485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2FB81B-9AE0-47F7-BBFB-D6297FFDA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943350"/>
            <a:ext cx="1257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485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9485F"/>
                </a:solidFill>
                <a:latin typeface="Aptos"/>
                <a:ea typeface="Aptos"/>
                <a:cs typeface="Aptos"/>
              </a:rPr>
              <a:t>REJECT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051CB5-0D0B-4BA6-9D4B-25380214D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92430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B1F2A"/>
                </a:solidFill>
                <a:latin typeface="Aptos"/>
                <a:ea typeface="Aptos"/>
                <a:cs typeface="Aptos"/>
              </a:rPr>
              <a:t>Resume the workflow with zero simulator mutation.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2EC6F4-27B0-4A56-BA63-15B192FA3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095500"/>
            <a:ext cx="285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E76B3B-572E-4695-9452-E77123B35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429000"/>
            <a:ext cx="285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5D5F6D-9652-4591-A299-1BE6DBA6F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F8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F88"/>
                </a:solidFill>
                <a:latin typeface="Aptos"/>
                <a:ea typeface="Aptos"/>
                <a:cs typeface="Aptos"/>
              </a:rPr>
              <a:t>Producer decisions are replaced in place by a receipt containing mutation status, chemistry, and verifier reward.</a:t>
            </a:r>
          </a:p>
        </p:txBody>
      </p:sp>
    </p:spTree>
    <p:extLst>
      <p:ext uri="{BB962C8B-B14F-4D97-AF65-F5344CB8AC3E}">
        <p14:creationId xmlns:p14="http://schemas.microsoft.com/office/powerpoint/2010/main" val="153195624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5870C32-DDF2-4CF5-91E0-AADF07F41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D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78258A-2290-46C5-8D5D-5BF52B5DB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37111E-03AB-4FDC-953C-C61D9E438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EE7D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EE7D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80A315-B1DB-43DC-A493-B89B3A5EA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B7CBD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B7CBD3"/>
                </a:solidFill>
                <a:latin typeface="Aptos"/>
                <a:ea typeface="Aptos"/>
                <a:cs typeface="Aptos"/>
              </a:rPr>
              <a:t>AMD GEMMA PROOF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AADD7A-0BD5-46F5-B267-5503FBE0E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10668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Verifier feedback turns 10% first-pass safety into 100%.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16D72C-1B9F-4286-A435-54A4BB3D5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95400"/>
            <a:ext cx="8763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Exact verifier failures return as bounded feedback; every revision is parsed and verified again.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6869D3-8D1A-4B93-B0F3-066AC175F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304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687C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687C8"/>
                </a:solidFill>
                <a:latin typeface="Aptos"/>
                <a:ea typeface="Aptos"/>
                <a:cs typeface="Aptos"/>
              </a:rPr>
              <a:t>CAPTURED AMD RUNTIME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E13C56-353B-4964-B76F-1FC26E4F2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0300"/>
            <a:ext cx="33337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F50"/>
          </a:solidFill>
          <a:ln xmlns:a="http://schemas.openxmlformats.org/drawingml/2006/main" w="19050">
            <a:solidFill>
              <a:srgbClr val="1687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EFEDE2-CA22-47E6-829B-E666C4C13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28900"/>
            <a:ext cx="28765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Gemma 4 E2B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8E04EE-1D69-4CAD-94C7-44C949321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76600"/>
            <a:ext cx="47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6F1717-1D1A-4311-86D6-2EA98391B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76600"/>
            <a:ext cx="25717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PyTorch 2.10 · ROCm 7.2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117C3E-31FE-4537-9A05-E26FF4020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47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54A0CC-4517-4D0A-A8FC-241A65E77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76650"/>
            <a:ext cx="25717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vLLM 0.20.2 · gfx1100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970371-DABB-4DA1-84E1-8F14CDE7B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76700"/>
            <a:ext cx="47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03AAD6-6673-4C7F-B43D-4C849BF43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76700"/>
            <a:ext cx="25717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47.98 GiB AMD GPU memory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AD706E-5A9F-4BF1-A0DD-6C2EB544C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38350"/>
            <a:ext cx="304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8A99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8A999"/>
                </a:solidFill>
                <a:latin typeface="Aptos"/>
                <a:ea typeface="Aptos"/>
                <a:cs typeface="Aptos"/>
              </a:rPr>
              <a:t>20-EMERGENCY REPAIR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98EE57-2D64-4DE8-A015-DB1D37C55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00300"/>
            <a:ext cx="33337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F50"/>
          </a:solidFill>
          <a:ln xmlns:a="http://schemas.openxmlformats.org/drawingml/2006/main" w="19050">
            <a:solidFill>
              <a:srgbClr val="18A99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B996A5-0323-4F39-A30A-DDD25164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28900"/>
            <a:ext cx="28765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18 repairs · zero fallback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DEF7A8-2B43-4A34-9DE2-165AFF5D3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76600"/>
            <a:ext cx="47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9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5709A0-14CF-475C-A10E-36DB34011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276600"/>
            <a:ext cx="25717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2/20 first answers safe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F7A3D0-3841-4A3F-B6BA-DD420BCF6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76650"/>
            <a:ext cx="47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9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79421A-10B7-4D5E-9DB5-720B27659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676650"/>
            <a:ext cx="25717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17 repaired once · 1 twice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1627FE-1D0A-4EC7-83AB-AC0BFB758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76700"/>
            <a:ext cx="47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9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7837E8-B20E-48C9-968B-7A15982C9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076700"/>
            <a:ext cx="25717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20/20 model-safe · no weight update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184239-3C28-46B0-BE95-2821EC1DD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38350"/>
            <a:ext cx="304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MEASURED EXECUTION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195627-C9E2-44AE-A25C-A02BDB0D4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400300"/>
            <a:ext cx="33337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F50"/>
          </a:solidFill>
          <a:ln xmlns:a="http://schemas.openxmlformats.org/drawingml/2006/main" w="19050">
            <a:solidFill>
              <a:srgbClr val="EF6C2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307849A-4FC6-4639-A531-15B9F96B9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28900"/>
            <a:ext cx="28765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139 requests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D121FA-2082-4B00-BD9C-1F2AC5CCD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76600"/>
            <a:ext cx="47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6FD630-759D-413C-9531-053F56474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276600"/>
            <a:ext cx="25717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60,385 observed tokens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1C30FD8-614C-488B-8321-90AA818A2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76650"/>
            <a:ext cx="47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5D3B7A-CB38-4038-9499-C347AC0C1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676650"/>
            <a:ext cx="25717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99.793 completion tokens/s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4D7B187-C5E1-4ABC-8372-1274E4961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076700"/>
            <a:ext cx="47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B6F3200-D700-4DB6-9918-E8BF6324C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076700"/>
            <a:ext cx="25717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p50 latency · 655.522 ms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3DC69CC-23A2-4C68-A4FB-3DC5421BB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067300"/>
            <a:ext cx="1091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8EE7D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8EE7D5"/>
                </a:solidFill>
                <a:latin typeface="Aptos"/>
                <a:ea typeface="Aptos"/>
                <a:cs typeface="Aptos"/>
              </a:rPr>
              <a:t>420.648 kg aggregate scenario biomass · +221.7244 mean reward vs naive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481EDA9-AEBF-4ED3-BCF9-6DD74A1ED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DB6C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DB6C0"/>
                </a:solidFill>
                <a:latin typeface="Aptos"/>
                <a:ea typeface="Aptos"/>
                <a:cs typeface="Aptos"/>
              </a:rPr>
              <a:t>Captured inference-time repair experiment; the public URL remains on its private 8 GB host and CPU fallback.</a:t>
            </a:r>
          </a:p>
        </p:txBody>
      </p:sp>
    </p:spTree>
    <p:extLst>
      <p:ext uri="{BB962C8B-B14F-4D97-AF65-F5344CB8AC3E}">
        <p14:creationId xmlns:p14="http://schemas.microsoft.com/office/powerpoint/2010/main" val="100498193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0E00D74-DBB5-4410-B046-55CB97D4D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F4A09C-D3C7-454C-A5CA-DC263AC17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DEC6E3-FDEE-482E-BB6B-9CADFCF7B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E49734-D7DF-40CC-BC21-4B6A670E5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4857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rPr>
              <a:t>Protect protein production where connectivity cannot be assumed.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51650F-628D-4CE9-B2FB-06028FE8D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95600"/>
            <a:ext cx="4667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A verifier-gated, producer-controlled platform for rural farms, cooperatives, and food-security programs.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A3DA8C-629B-40E0-9A8D-52C7F3AEA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862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B2785F-D411-4C90-91B3-EA4514722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PRIVATE FIELD LINK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B45716-35DD-4DD9-ADD9-A0464903A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057650"/>
            <a:ext cx="2324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Two physical nRF9151 radios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F3F4C8-680C-471D-9A2D-C1707E18A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958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034584-9440-4EC7-BE8D-1F57FBC89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LOCAL INTELLIGENCE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9544AB-9EDF-4088-8CA2-702B11F31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667250"/>
            <a:ext cx="2324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Self-hosted Gemma 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DC9F80-3508-4B8E-BC87-5BA3FD8C8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054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6BCA7E-0E19-43C6-9568-B6B09A6EA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768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EXECUTABLE SAFETY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C05ABF-0F38-4AE9-BBA1-96CAD1B05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276850"/>
            <a:ext cx="2324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Deterministic verifier + RLVR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235F0D-4543-4D79-BAC5-3C8342FF3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62650"/>
            <a:ext cx="476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proteinloop.dev-vb.lat  |  Best Unicorn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95A21D-8022-4685-AF75-BA859576F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github.com/Anarpego/ProteinLoop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3FB8F0-A89E-49DB-91D5-120CA484E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0"/>
            <a:ext cx="6381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5532d1efd44792"/>
          <a:srcRect xmlns:a="http://schemas.openxmlformats.org/drawingml/2006/main" l="20736" t="0" r="2073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10250" y="0"/>
            <a:ext cx="6381750" cy="6858000"/>
          </a:xfrm>
          <a:prstGeom xmlns:a="http://schemas.openxmlformats.org/drawingml/2006/main" prst="rect">
            <a:avLst/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4BFA88-6298-4137-A1F7-518DF0FF0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924550"/>
            <a:ext cx="63817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D3C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E9B4AD-EC19-4A51-833F-D840EF8AE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6153150"/>
            <a:ext cx="561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ASK: BEST UNICORN</a:t>
            </a:r>
          </a:p>
        </p:txBody>
      </p:sp>
    </p:spTree>
    <p:extLst>
      <p:ext uri="{BB962C8B-B14F-4D97-AF65-F5344CB8AC3E}">
        <p14:creationId xmlns:p14="http://schemas.microsoft.com/office/powerpoint/2010/main" val="13017042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2026-07-12T06:02:25.2410000Z</dcterms:created>
  <dcterms:modified xsi:type="dcterms:W3CDTF">2026-07-12T06:02:25.2410000Z</dcterms:modified>
</coreProperties>
</file>