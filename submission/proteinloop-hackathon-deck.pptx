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eca5d505f048a1" /><Relationship Type="http://schemas.openxmlformats.org/officeDocument/2006/relationships/extended-properties" Target="/docProps/app.xml" Id="Ra4cbdedc18644909" /><Relationship Type="http://schemas.openxmlformats.org/officeDocument/2006/relationships/officeDocument" Target="/ppt/presentation.xml" Id="Red75033556bd41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af26ace53e489b"/>
  </p:sldMasterIdLst>
  <p:notesMasterIdLst>
    <p:notesMasterId xmlns:r="http://schemas.openxmlformats.org/officeDocument/2006/relationships" r:id="Rf9aeabcb19ec4dc7"/>
  </p:notesMasterIdLst>
  <p:sldIdLst>
    <p:sldId xmlns:r="http://schemas.openxmlformats.org/officeDocument/2006/relationships" id="256" r:id="Rb7d77e09965d4068"/>
    <p:sldId xmlns:r="http://schemas.openxmlformats.org/officeDocument/2006/relationships" id="257" r:id="R99e6dd9242154b63"/>
    <p:sldId xmlns:r="http://schemas.openxmlformats.org/officeDocument/2006/relationships" id="258" r:id="R46f05fc96aa34a58"/>
    <p:sldId xmlns:r="http://schemas.openxmlformats.org/officeDocument/2006/relationships" id="259" r:id="R02e2edf84f2c4f56"/>
    <p:sldId xmlns:r="http://schemas.openxmlformats.org/officeDocument/2006/relationships" id="260" r:id="R8befc32ff2484760"/>
    <p:sldId xmlns:r="http://schemas.openxmlformats.org/officeDocument/2006/relationships" id="261" r:id="R5f48dead392e42e5"/>
    <p:sldId xmlns:r="http://schemas.openxmlformats.org/officeDocument/2006/relationships" id="262" r:id="R48d0fc19aca94e95"/>
    <p:sldId xmlns:r="http://schemas.openxmlformats.org/officeDocument/2006/relationships" id="263" r:id="Rfdb7a691c5c84eb6"/>
    <p:sldId xmlns:r="http://schemas.openxmlformats.org/officeDocument/2006/relationships" id="264" r:id="R82b87dbe32084ace"/>
    <p:sldId xmlns:r="http://schemas.openxmlformats.org/officeDocument/2006/relationships" id="265" r:id="R69a99ead9b624bd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af26ace53e489b" /><Relationship Type="http://schemas.openxmlformats.org/officeDocument/2006/relationships/theme" Target="/ppt/theme/theme1.xml" Id="Rd18c9eef050048de" /><Relationship Type="http://schemas.openxmlformats.org/officeDocument/2006/relationships/notesMaster" Target="/ppt/notesMasters/notesMaster1.xml" Id="Rf9aeabcb19ec4dc7" /><Relationship Type="http://schemas.openxmlformats.org/officeDocument/2006/relationships/presProps" Target="/ppt/presProps.xml" Id="R13aa99b784ad4210" /><Relationship Type="http://schemas.openxmlformats.org/officeDocument/2006/relationships/viewProps" Target="/ppt/viewProps.xml" Id="R212e6aa3cc8b4d5d" /><Relationship Type="http://schemas.openxmlformats.org/officeDocument/2006/relationships/tableStyles" Target="/ppt/tableStyles.xml" Id="Ra858b4de12d24167" /><Relationship Type="http://schemas.openxmlformats.org/officeDocument/2006/relationships/slide" Target="/ppt/slides/slide1.xml" Id="Rb7d77e09965d4068" /><Relationship Type="http://schemas.openxmlformats.org/officeDocument/2006/relationships/slide" Target="/ppt/slides/slide2.xml" Id="R99e6dd9242154b63" /><Relationship Type="http://schemas.openxmlformats.org/officeDocument/2006/relationships/slide" Target="/ppt/slides/slide3.xml" Id="R46f05fc96aa34a58" /><Relationship Type="http://schemas.openxmlformats.org/officeDocument/2006/relationships/slide" Target="/ppt/slides/slide4.xml" Id="R02e2edf84f2c4f56" /><Relationship Type="http://schemas.openxmlformats.org/officeDocument/2006/relationships/slide" Target="/ppt/slides/slide5.xml" Id="R8befc32ff2484760" /><Relationship Type="http://schemas.openxmlformats.org/officeDocument/2006/relationships/slide" Target="/ppt/slides/slide6.xml" Id="R5f48dead392e42e5" /><Relationship Type="http://schemas.openxmlformats.org/officeDocument/2006/relationships/slide" Target="/ppt/slides/slide7.xml" Id="R48d0fc19aca94e95" /><Relationship Type="http://schemas.openxmlformats.org/officeDocument/2006/relationships/slide" Target="/ppt/slides/slide8.xml" Id="Rfdb7a691c5c84eb6" /><Relationship Type="http://schemas.openxmlformats.org/officeDocument/2006/relationships/slide" Target="/ppt/slides/slide9.xml" Id="R82b87dbe32084ace" /><Relationship Type="http://schemas.openxmlformats.org/officeDocument/2006/relationships/slide" Target="/ppt/slides/slide10.xml" Id="R69a99ead9b624b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4ffc8bbd39741b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4faed7cd3e402e" /><Relationship Type="http://schemas.openxmlformats.org/officeDocument/2006/relationships/notesMaster" Target="/ppt/notesMasters/notesMaster1.xml" Id="Re698701db6fa41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1c68a24f1134725" /><Relationship Type="http://schemas.openxmlformats.org/officeDocument/2006/relationships/notesMaster" Target="/ppt/notesMasters/notesMaster1.xml" Id="R222b331b660c41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96b083563d44be" /><Relationship Type="http://schemas.openxmlformats.org/officeDocument/2006/relationships/notesMaster" Target="/ppt/notesMasters/notesMaster1.xml" Id="Re0049d40fa9e4a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99ba2428b4a43f5" /><Relationship Type="http://schemas.openxmlformats.org/officeDocument/2006/relationships/notesMaster" Target="/ppt/notesMasters/notesMaster1.xml" Id="Re6554b8afb0742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605a300ac948fd" /><Relationship Type="http://schemas.openxmlformats.org/officeDocument/2006/relationships/notesMaster" Target="/ppt/notesMasters/notesMaster1.xml" Id="Ra30a379dfa2943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dd7192cf44408" /><Relationship Type="http://schemas.openxmlformats.org/officeDocument/2006/relationships/notesMaster" Target="/ppt/notesMasters/notesMaster1.xml" Id="Rab7e3da94c1e4a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7f8d457c274852" /><Relationship Type="http://schemas.openxmlformats.org/officeDocument/2006/relationships/notesMaster" Target="/ppt/notesMasters/notesMaster1.xml" Id="Rb99b1343e707472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aa185b0ce2f4d61" /><Relationship Type="http://schemas.openxmlformats.org/officeDocument/2006/relationships/notesMaster" Target="/ppt/notesMasters/notesMaster1.xml" Id="Rd1a0788afb664cf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d3aa61160c4bd1" /><Relationship Type="http://schemas.openxmlformats.org/officeDocument/2006/relationships/notesMaster" Target="/ppt/notesMasters/notesMaster1.xml" Id="R4680a16abdc240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da0d21d70d4982" /><Relationship Type="http://schemas.openxmlformats.org/officeDocument/2006/relationships/notesMaster" Target="/ppt/notesMasters/notesMaster1.xml" Id="Rd75fac3fa10e44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41b681f19a4f6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6ae11fd812cd497e" /><Relationship Type="http://schemas.openxmlformats.org/officeDocument/2006/relationships/slideLayout" Target="/ppt/slideLayouts/slideLayout2.xml" Id="R362c26f3c89a47b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2c26f3c89a47b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d230d72bb344a5d" /><Relationship Type="http://schemas.openxmlformats.org/officeDocument/2006/relationships/image" Target="/ppt/media/image.png" Id="Ra7cb2b8f63a749bc" /><Relationship Type="http://schemas.openxmlformats.org/officeDocument/2006/relationships/notesSlide" Target="/ppt/notesSlides/notesSlide1.xml" Id="Ra29258aed31841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f4169d16aa4e6d" /><Relationship Type="http://schemas.openxmlformats.org/officeDocument/2006/relationships/notesSlide" Target="/ppt/notesSlides/notesSlide2.xml" Id="R1896acf1ff0e48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621782b55b47fa" /><Relationship Type="http://schemas.openxmlformats.org/officeDocument/2006/relationships/image" Target="/ppt/media/image2.png" Id="Rd806507a958b47e5" /><Relationship Type="http://schemas.openxmlformats.org/officeDocument/2006/relationships/notesSlide" Target="/ppt/notesSlides/notesSlide3.xml" Id="R359a4808985a46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6e36daac854faa" /><Relationship Type="http://schemas.openxmlformats.org/officeDocument/2006/relationships/image" Target="/ppt/media/image3.png" Id="R294947f430754887" /><Relationship Type="http://schemas.openxmlformats.org/officeDocument/2006/relationships/notesSlide" Target="/ppt/notesSlides/notesSlide4.xml" Id="R19e40d4bea2d44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ebd51a8246498a" /><Relationship Type="http://schemas.openxmlformats.org/officeDocument/2006/relationships/notesSlide" Target="/ppt/notesSlides/notesSlide5.xml" Id="R3c440516a00848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24c1b126504938" /><Relationship Type="http://schemas.openxmlformats.org/officeDocument/2006/relationships/notesSlide" Target="/ppt/notesSlides/notesSlide6.xml" Id="R72c5674601f84da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69490829294113" /><Relationship Type="http://schemas.openxmlformats.org/officeDocument/2006/relationships/notesSlide" Target="/ppt/notesSlides/notesSlide7.xml" Id="R453cc066f691458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3851fe54564aec" /><Relationship Type="http://schemas.openxmlformats.org/officeDocument/2006/relationships/notesSlide" Target="/ppt/notesSlides/notesSlide8.xml" Id="R6fa2d0115cdd4e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766713e31547b7" /><Relationship Type="http://schemas.openxmlformats.org/officeDocument/2006/relationships/notesSlide" Target="/ppt/notesSlides/notesSlide9.xml" Id="Rd9f6af980b7a43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da7e2b6e904070" /><Relationship Type="http://schemas.openxmlformats.org/officeDocument/2006/relationships/image" Target="/ppt/media/image4.png" Id="R1b00fd3811344431" /><Relationship Type="http://schemas.openxmlformats.org/officeDocument/2006/relationships/notesSlide" Target="/ppt/notesSlides/notesSlide10.xml" Id="R67ef1f1eed8141a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b2b8f63a749b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911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9448A2-7DB7-4F54-AC97-80E2746F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CC229-7C30-4BA6-A1F4-3083B996F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80E172-0E54-44B2-942D-363B5969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C1EE9-49FA-4B7D-8F9C-52C4332B9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214729-1BFC-40AF-B9AD-71B20521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2286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LOOP, SHARED RISK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6FC35-11DF-44AB-8B26-443AC86C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990600"/>
            <a:ext cx="6191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chemistry failure does not stop at the vegetables.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056D4-29E9-4C0D-94A2-3F9230C6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47900"/>
            <a:ext cx="5619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and prawns breathe the water. Plants clean it. Duckweed stores feed. Eggs depend on what survives upstream.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9D0E0-965D-47E5-9FB6-79875131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5619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0">
            <a:solidFill>
              <a:srgbClr val="D9485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C6843-C2FD-4D17-AA15-3EFDE835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One ammonia spike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BF05F-5A2F-4DF3-9EAA-E763A793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514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can threaten every protein output in the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B93D7-E0C2-4611-B109-BB9D64FB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123950"/>
            <a:ext cx="381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FDBB2-B011-42BC-8BDB-54396363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3049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56826E-579E-41EA-91DE-E162DAA94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71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14.5 kg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741DA-0D41-46B9-AF2C-5ECE6C166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240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 + prawn 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9113F-5498-4499-9A77-0E32232D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88607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1DC0E-8F93-47C9-8520-B079F25F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527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5.0 kg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3E204-51E2-40DE-B3D2-75582764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plants cleaning water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322573-D67C-4390-9398-35D55B68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67225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2DED3A-042B-4772-B046-6AE40BB9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133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eggs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E6D301-2CED-4365-8BF3-7A2C5047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downstream protein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D5F86A-0DA7-47FB-B6B9-069CDDDA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ProteinLoop measures the animal-protein outcome instead of treating it as a hidden side effect.</a:t>
            </a:r>
          </a:p>
        </p:txBody>
      </p:sp>
    </p:spTree>
    <p:extLst>
      <p:ext uri="{BB962C8B-B14F-4D97-AF65-F5344CB8AC3E}">
        <p14:creationId xmlns:p14="http://schemas.microsoft.com/office/powerpoint/2010/main" val="188769526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BDC3EE-6C2D-458B-8A26-BFAAD75D7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9CB850-FFEF-4C67-8124-828FEFC6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C8D6D6-ECA6-462C-A0EA-110CA50D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7F0A2-70EB-47CD-B5FF-C2D93A2B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PRODUCT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F510D-EBA7-4F5D-90B3-C3346770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A living system people can understand in seconds.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AB043-8A4B-4577-8BE1-A75432F2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43000"/>
            <a:ext cx="923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deployed operator view connects animal behavior, plain-language chemistry, biomass, and action in one scene.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2841F-A3C8-473F-A96A-F7D13B90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53800" cy="407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8DC"/>
            </a:solidFill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06507a958b47e5"/>
          <a:stretch xmlns:a="http://schemas.openxmlformats.org/drawingml/2006/main"/>
        </p:blipFill>
        <p:spPr>
          <a:xfrm xmlns:a="http://schemas.openxmlformats.org/drawingml/2006/main">
            <a:off x="1929822" y="1790700"/>
            <a:ext cx="8294256" cy="38481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2E3ECB-C409-4698-87E2-D9A012BF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8645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56DD3-216C-485C-8046-77DCC00A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53125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SEE THE ANIMALS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B48AC-3F85-4439-818B-5118DEF0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886450"/>
            <a:ext cx="22479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4926E0-9F26-4559-8623-1E714E58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953125"/>
            <a:ext cx="2057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UNDERSTAND THE WATER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101AB7-5133-49BE-AF29-C8004337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5886450"/>
            <a:ext cx="19621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065CA5-913A-4E85-A445-3ECFB48E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953125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ACT WITH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8E0E75-0E46-4824-A2CD-85688D6E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Real deployed UI at proteinloop.dev-vb.lat; the tank is rendered live, not a looping video.</a:t>
            </a:r>
          </a:p>
        </p:txBody>
      </p:sp>
    </p:spTree>
    <p:extLst>
      <p:ext uri="{BB962C8B-B14F-4D97-AF65-F5344CB8AC3E}">
        <p14:creationId xmlns:p14="http://schemas.microsoft.com/office/powerpoint/2010/main" val="18344801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947f430754887"/>
          <a:srcRect xmlns:a="http://schemas.openxmlformats.org/drawingml/2006/main" l="0" t="5284" r="0" b="52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ABBDB-5A88-4362-8375-DFB3BDCB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9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D8886-A64C-466C-8A24-B091B002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90500"/>
            <a:ext cx="685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recovery is visible while it happens.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6ACD1-A5FC-4BD1-917B-62C7FB937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4C7C9-B5D2-4642-9610-1B1E9DA4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0A19C-DAA4-4492-A9E0-0F102527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FDE143-5829-4206-A35D-B1C95502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 specialists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6CE0E6-5453-4976-83A3-D8F412B4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8DAFD-DA9A-4AC5-9A14-23E182BD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7F0534-52E7-4806-8101-ACC6F1D1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465358-CC93-4C60-9E66-8987CB64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D2F5B-8E5A-4130-9FA4-FDE519AA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1050"/>
            <a:ext cx="266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EDB4D9-2C42-42E2-B1DC-F648A23C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2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7DF8D8-13D0-4A8A-9311-36796638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Structured events and tool outcomes are visible; private model chain-of-thought is not presented as evidence.</a:t>
            </a:r>
          </a:p>
        </p:txBody>
      </p:sp>
    </p:spTree>
    <p:extLst>
      <p:ext uri="{BB962C8B-B14F-4D97-AF65-F5344CB8AC3E}">
        <p14:creationId xmlns:p14="http://schemas.microsoft.com/office/powerpoint/2010/main" val="1983369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62AD22-085C-407A-8A6E-CC4995F7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9BCF4C-F9B4-40BC-8D23-B76BECD9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BD39AB-7136-4007-A91B-26FB9B49D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DB24CB-7EB8-4AF9-95EB-3C47D887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626B9-A31A-44FC-9789-8F6EF7F6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The model can recommend. It cannot mutate.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30A6F7-4285-468E-9B18-2A232C7B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2573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Authority moves left to right. Every connector ends at an explicit decision boundary.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D90847-078E-40CB-B395-B301CA29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2019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AD82A-D1B4-4CDE-B6BC-51EF5CE3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84F62-73B5-40D7-A8C6-040CDD56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293CC-640B-4084-A971-D8D46B61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09800"/>
            <a:ext cx="1314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Gemma specialists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2430EF-059E-4138-BAC1-AB7EC847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3650"/>
            <a:ext cx="1676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Fish, prawns, plants, and feed-loop briefs.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B9517-F879-463E-AEDF-E8B6BF26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8ABEA9-1982-41AF-95CB-1BE34E11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5E886-905F-4353-B2EB-A1438F66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76450"/>
            <a:ext cx="18097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89E14-2C8E-4044-A118-0F5B18FB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A2D257-8684-4B81-8E05-03F6581E5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FC6887-229D-4D1A-AD16-C4DC8437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209800"/>
            <a:ext cx="1104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Supervisor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49D484-E618-42F5-A808-B314C9B32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33650"/>
            <a:ext cx="14668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One bounded proposal.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733F5A-ACE2-4168-9596-175BB109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1F7F7F-5D0C-4A33-91F0-A7679316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ED7F09-97E2-4DB7-AF0F-E9270A43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85950"/>
            <a:ext cx="23241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E93AB9-0622-42FC-AF4F-86AE510D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193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13E38E-F584-4632-BE66-1333C4F2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764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0EB925-061F-4CFE-AF10-1565C7817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1930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Deterministic 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4CCE94-F3E2-428C-A566-F68D1614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343150"/>
            <a:ext cx="1981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Checks chemistry, feed, water exchange, reserve, and collapse rules.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D51D38-D204-45A9-A222-2C754254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95575"/>
            <a:ext cx="4191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1B5458-C4A7-4FEA-8C43-52422C9EB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609850"/>
            <a:ext cx="28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01DDB6-7429-43AC-AC0E-540C0BCB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23431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604F0A-C855-4F29-9C38-BD5F6D61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098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9E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071A9FF-A8DF-4D32-82CF-89D7326EB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304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4F370B-80F6-4272-91DF-929A3F15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09800"/>
            <a:ext cx="16383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Simulator mutation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CE230E-2116-40D8-ADD3-51E3B68F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Only admitted actions change state.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3AD032-C974-4657-9BC4-A11813EB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095750"/>
            <a:ext cx="54864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F11E45-226E-46F7-90E4-05F8FA87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0530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UNSAFE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6F4E8C-3CC3-43CC-B31F-F1C74783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29100"/>
            <a:ext cx="3600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Rejected before mutation and written to the RLVR trace.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EB7EAB-8CBD-4E56-BD40-3E9BFB32E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81400"/>
            <a:ext cx="285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48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AEE695-3750-4F25-8425-36A7033B2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909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v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42B2A1-2517-4CA5-978A-F42FD1AE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verify_ecosystem_safety is the only authority allowed to admit simulator mutation.</a:t>
            </a:r>
          </a:p>
        </p:txBody>
      </p:sp>
    </p:spTree>
    <p:extLst>
      <p:ext uri="{BB962C8B-B14F-4D97-AF65-F5344CB8AC3E}">
        <p14:creationId xmlns:p14="http://schemas.microsoft.com/office/powerpoint/2010/main" val="205895033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A2CED7-125C-43AA-AE31-D9A14241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AA1713-1CB3-4D92-8C08-06985602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100519-AABC-4E1E-B690-BBD67DB0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2416E-F695-428E-A7A7-632D74A4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EXECUTABLE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E6F1F5-E904-40A6-BFC9-1057F751C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9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Safety is demonstrated, not narrated.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E0C0A-DE44-4D9C-A6B3-8766F549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333500"/>
            <a:ext cx="7524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The simulator is simultaneously the product demo, the policy evaluator, and the RLVR source of truth.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F6C3EC-0E84-4004-9502-F5245F8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63C7F2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63C7F2"/>
                </a:solidFill>
                <a:latin typeface="Aptos"/>
                <a:ea typeface="Aptos"/>
                <a:cs typeface="Aptos"/>
              </a:rPr>
              <a:t>180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3A73B2-AB68-4AA6-AC4A-F53B11034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Python tests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4A0F8B-3783-4CA4-98E4-A49C2FAA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simulator, verifier, API,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9F762-CD18-47E2-840C-9531BF39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C7F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BCDD43-C618-4C3F-A080-686CBF7E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129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87592-C100-47E2-9999-0BB9754A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Phoenix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5A1224-B699-4DC3-BECB-0C0375F9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Sagents, LiveView, producer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9738D7-E03E-47E4-B3AD-CDD8A9D5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9A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0D1C13-478A-442E-AB21-5EA78F0D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2C94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2C94C"/>
                </a:solidFill>
                <a:latin typeface="Aptos"/>
                <a:ea typeface="Aptos"/>
                <a:cs typeface="Aptos"/>
              </a:rPr>
              <a:t>+463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FB1AC-F364-45B5-B1A6-123975E8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reward delta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F29384-A4DA-4B25-ABB9-C29E9612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verified policy versus naive average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9BB4D3-6CA9-46CE-AE62-772BA7F5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94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650004-81EA-413F-BAA5-5C11289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336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8E5C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8E5C"/>
                </a:solidFill>
                <a:latin typeface="Aptos"/>
                <a:ea typeface="Aptos"/>
                <a:cs typeface="Aptos"/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1EC5E8-9ED7-4FBF-BE2A-4D1ED70C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62250"/>
            <a:ext cx="2190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collapse avoidance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DCC3B7-7BA2-4CFC-8DE8-EDB74177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028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BAD0D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BAD0D8"/>
                </a:solidFill>
                <a:latin typeface="Aptos"/>
                <a:ea typeface="Aptos"/>
                <a:cs typeface="Aptos"/>
              </a:rPr>
              <a:t>fixed baseline scenarios recovered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F2AAFE-E736-4398-82C9-50B7D8AF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90900"/>
            <a:ext cx="200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E5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5C767E-C88D-4D35-ABB2-7F1B1B5F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48150"/>
            <a:ext cx="10763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315B6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289C52-E6CB-4B4D-B9D0-7301A30E5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ONE-CLICK JUDGE PROOF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F99FA9-A40D-45CD-AFD5-11382F33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19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Inject emergency  -&gt;  block unsafe proposal  -&gt;  admit safe recovery  -&gt;  inspect measured chemistry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A31E06-E320-4A89-98B2-1C0B6AEB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Verified July 11, 2026: 184 Python and 132 Phoenix tests, zero failures.</a:t>
            </a:r>
          </a:p>
        </p:txBody>
      </p:sp>
    </p:spTree>
    <p:extLst>
      <p:ext uri="{BB962C8B-B14F-4D97-AF65-F5344CB8AC3E}">
        <p14:creationId xmlns:p14="http://schemas.microsoft.com/office/powerpoint/2010/main" val="19089141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B1D0DD-6333-4E49-BF04-7C7B9E18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711C6D-3A61-4307-B82E-E3BA53CE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C3D01-D738-4AE8-BB61-ECD04A210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BD9909-95A9-4223-A4A6-2126E7CCE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OFF-GRID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E3F62-F8FA-4244-9B3E-E699A82A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10668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Keep the food-control loop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C08072-998B-4E17-8962-3E0969AC1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81100"/>
            <a:ext cx="7810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Three continuity layers separate transport, intelligence, and power claims.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2FE6B-EBEA-4D5F-879B-6F5C5E519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909FA-36B8-4023-BA06-25E3946C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Tank probes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33DDBA-36B0-40BA-BA22-2186CEA4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next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D6A0F-DEE5-4C51-BC23-0148D592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12C86D-1ED2-4AFA-B5A6-A86582D8A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59F946-3D2C-4F23-9BB3-4FF76D80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0E1CB-3DE3-4780-B502-E5992E2A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tank radio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958EAD-BAEC-4EAA-B772-FA8A5AA9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195254-E10E-42C4-B415-018FF8DCA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F62A9D-7571-449F-9B9A-DE02FFD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DECT NR+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5FCE3-BEEB-41FD-9A12-E6C49C3B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no Wi-Fi / SIM / cloud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B06BD-1B66-4382-96A6-C50C8014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E2DA42-FB94-4050-95CB-B91B79EB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6573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E0C676-100C-4BA9-9407-F38907EE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57450"/>
            <a:ext cx="13906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nRF9151 FT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DA78C-2ED6-4FC5-981F-5F152E26A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003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physical gateway radio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4C54E6-7B9C-47D3-BBDC-A1357B29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38425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9E4856-B20E-43DF-BB9C-C8A72ABB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86000"/>
            <a:ext cx="15049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F7EF"/>
          </a:solidFill>
          <a:ln xmlns:a="http://schemas.openxmlformats.org/drawingml/2006/main" w="19050">
            <a:solidFill>
              <a:srgbClr val="087F7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DD66E7-8F1A-41F0-918B-97428513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457450"/>
            <a:ext cx="123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Edge computer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A35AF-69EB-4A04-9B6D-1E3661D8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800350"/>
            <a:ext cx="1276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Gemma + verifier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7FC604-DBF3-47FB-972B-52C0AF12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952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DEA58F-681B-4AD7-88BF-82B2B2C4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BB2C0-0D7F-4A19-B5B4-C56375F4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2071C7-0260-40C7-B5A2-AF210767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628D4C-F5DF-47D9-B516-FCBE7294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3B358-9163-43FD-87B4-E23157BF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DFA526-457B-48E9-968E-C2E27602D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9211B8-2E0B-4911-BAF8-5498E97E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159607-E99F-42C7-9572-532E5997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1943100"/>
            <a:ext cx="1047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05857F3-D14D-462E-9C90-D0A6629DF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009775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PROVEN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4F505-15DD-445D-A32A-E52DA918A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1053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9419320-538E-4846-992F-240DBF38A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NO WI-FI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DE8AD24-0D7C-4411-A3FF-D8F5FC9A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DECT NR+ carries the tank-to-gateway hop.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251AAFB-0A08-4035-A7B1-03185CBD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NO CLOUD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E27B6DC-4051-4917-B5CA-D73124F8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and deterministic rules remain local.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A6F7EA-2C98-4CAB-89EF-19CDC261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36245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GRID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2632C84-EFFE-4B8F-A3DD-E450F802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Solar + battery is the next measured autonomy proof.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F578375-9616-45CA-B109-9454E504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Physical chemistry acquisition and measured solar autonomy are future field proofs, not current claims.</a:t>
            </a:r>
          </a:p>
        </p:txBody>
      </p:sp>
    </p:spTree>
    <p:extLst>
      <p:ext uri="{BB962C8B-B14F-4D97-AF65-F5344CB8AC3E}">
        <p14:creationId xmlns:p14="http://schemas.microsoft.com/office/powerpoint/2010/main" val="16694873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CED370-A455-4BFD-9C83-4AEF10D5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AF2EB-5A8C-4338-AFBF-B1C84C13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B937C4-0CD0-410D-8035-E312B8A6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88BF4-754A-4EEC-8D8D-583C4EDB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425466"/>
                </a:solidFill>
                <a:latin typeface="Aptos"/>
                <a:ea typeface="Aptos"/>
                <a:cs typeface="Aptos"/>
              </a:rPr>
              <a:t>PRODUCER CONTROL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9A600E-1F93-4FAC-AD6C-737A4072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5715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Risky actions stop for a human decision.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9EEB7-345A-4A0D-BFBA-B43EAC98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5143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The producer sees the proposed change, safety result, and current chemistry before choosing what happens next.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78577-1BAF-41B1-A967-3F03509F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14700"/>
            <a:ext cx="4953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No irreversible action</a:t>
            </a:r>
          </a:p>
          <a:p xmlns:a="http://schemas.openxmlformats.org/drawingml/2006/main">
            <a:pPr algn="l">
              <a:defRPr sz="25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runs silently.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AF3BE-9814-4945-AA24-36EA68C3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66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7ED"/>
          </a:solidFill>
          <a:ln xmlns:a="http://schemas.openxmlformats.org/drawingml/2006/main" w="19050">
            <a:solidFill>
              <a:srgbClr val="2F9E6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72636-1933-404F-9C48-3D9C4103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276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F9E6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9E66"/>
                </a:solidFill>
                <a:latin typeface="Aptos"/>
                <a:ea typeface="Aptos"/>
                <a:cs typeface="Aptos"/>
              </a:rPr>
              <a:t>APPROVE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AB2AB-7D68-46FE-B20D-921F281D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257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Execute the verified proposal exactly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E736FC-C41C-4B91-B813-630D7DBA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5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0E24B2-3281-4C45-9D9B-C28347F1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098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APPLY HALF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813752-DAE4-4976-BD72-8CE5FAE0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908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Reduce the action, then verify the edited amount again.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06E1A4-3694-44A4-95AF-F64A4E67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33800"/>
            <a:ext cx="4400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C"/>
          </a:solidFill>
          <a:ln xmlns:a="http://schemas.openxmlformats.org/drawingml/2006/main" w="19050">
            <a:solidFill>
              <a:srgbClr val="D948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F4FA8-571E-4E0D-846C-C66DBACC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43350"/>
            <a:ext cx="1257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485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485F"/>
                </a:solidFill>
                <a:latin typeface="Aptos"/>
                <a:ea typeface="Aptos"/>
                <a:cs typeface="Aptos"/>
              </a:rPr>
              <a:t>REJECT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99538-25D1-4A83-9CEC-A3CBB79F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924300"/>
            <a:ext cx="2381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Resume the workflow with zero simulator mutation.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73A5FE-3238-43A4-BB8C-7C21A29B8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955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981AC3-4486-42F8-8745-C51878E4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285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1EB15F-3136-4AB3-AA91-43B77BF2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B7F88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B7F88"/>
                </a:solidFill>
                <a:latin typeface="Aptos"/>
                <a:ea typeface="Aptos"/>
                <a:cs typeface="Aptos"/>
              </a:rPr>
              <a:t>Producer decisions are replaced in place by a receipt containing mutation status, chemistry, and verifier reward.</a:t>
            </a:r>
          </a:p>
        </p:txBody>
      </p:sp>
    </p:spTree>
    <p:extLst>
      <p:ext uri="{BB962C8B-B14F-4D97-AF65-F5344CB8AC3E}">
        <p14:creationId xmlns:p14="http://schemas.microsoft.com/office/powerpoint/2010/main" val="172377725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DF9D5D-6370-4468-AB19-6DE3909C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DFBBF8-EE1D-4D94-80C0-BD5E3806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3B624-F19D-4F24-A161-F4DB4C57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629BC-C8A0-495E-BD5C-5CD7FDD0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B7CBD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B7CBD3"/>
                </a:solidFill>
                <a:latin typeface="Aptos"/>
                <a:ea typeface="Aptos"/>
                <a:cs typeface="Aptos"/>
              </a:rPr>
              <a:t>RUNTIME PORTABILITY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74036-6339-44C6-B4DF-5A6982F5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05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One endpoint. Two deployment paths.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37D56B-0833-47ED-BD32-D79AF75F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95400"/>
            <a:ext cx="7048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Agent and verifier code stay unchanged when the inference host changes.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9B50E4-C7C0-4DE0-BECF-1DC81FF2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PROVEN NOW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3A521-5C46-4DE5-8876-6A303844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3200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9525">
            <a:solidFill>
              <a:srgbClr val="4F788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AF423-C2A7-430B-8D63-8C1730078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628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CPU edge runtime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0C58E-5726-4110-B9D5-137C5E65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262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Gemma 4 E2B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llama.cpp QAT Q4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private 8 GB host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separate Metal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F51351-AED0-4997-9ED8-526287A4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3143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3FB"/>
          </a:solidFill>
          <a:ln xmlns:a="http://schemas.openxmlformats.org/drawingml/2006/main" w="19050">
            <a:solidFill>
              <a:srgbClr val="1687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5AFDD-00BC-481B-B943-4609AB4BF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90850"/>
            <a:ext cx="257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87C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87C8"/>
                </a:solidFill>
                <a:latin typeface="Aptos"/>
                <a:ea typeface="Aptos"/>
                <a:cs typeface="Aptos"/>
              </a:rPr>
              <a:t>GEMMA_ENDPOINT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3501D-D679-4629-9B4E-BD39FE61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29000"/>
            <a:ext cx="2571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B1F2A"/>
                </a:solidFill>
                <a:latin typeface="Aptos"/>
                <a:ea typeface="Aptos"/>
                <a:cs typeface="Aptos"/>
              </a:rPr>
              <a:t>OpenAI-compatible model boundary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7B23B5-8C4D-4161-A055-2FEF61D7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2575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76D9A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76D9AD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FC321-E34F-4EAC-8375-21A1F1DB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2575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6AAEB8-01BF-4D4D-9C9B-147CA610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038350"/>
            <a:ext cx="2857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AD7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AD7C"/>
                </a:solidFill>
                <a:latin typeface="Aptos"/>
                <a:ea typeface="Aptos"/>
                <a:cs typeface="Aptos"/>
              </a:rPr>
              <a:t>PORTABLE AMD PATH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03F111-BF7F-4FD0-998A-CE896BB0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00300"/>
            <a:ext cx="3200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F50"/>
          </a:solidFill>
          <a:ln xmlns:a="http://schemas.openxmlformats.org/drawingml/2006/main" w="19050">
            <a:solidFill>
              <a:srgbClr val="EF6C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5FF00-3998-4040-B429-633A696C7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47950"/>
            <a:ext cx="26289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GPU promotion profile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70F227-7B34-4016-8EFB-37FDCBCF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43250"/>
            <a:ext cx="26289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AMD ROCm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vLLM serving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same endpoint contract</a:t>
            </a:r>
          </a:p>
          <a:p xmlns:a="http://schemas.openxmlformats.org/drawingml/2006/main">
            <a:pPr algn="l">
              <a:defRPr sz="1200" b="0">
                <a:solidFill>
                  <a:srgbClr val="C2D6D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2D6DD"/>
                </a:solidFill>
                <a:latin typeface="Aptos"/>
                <a:ea typeface="Aptos"/>
                <a:cs typeface="Aptos"/>
              </a:rPr>
              <a:t>GPU evidence not claimed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DF0CB3-6132-4B24-862E-A0C112DF9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8250"/>
            <a:ext cx="10801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EE7D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8EE7D5"/>
                </a:solidFill>
                <a:latin typeface="Aptos"/>
                <a:ea typeface="Aptos"/>
                <a:cs typeface="Aptos"/>
              </a:rPr>
              <a:t>The deterministic verifier remains authoritative on either host.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50618-4D5B-47A2-A75D-11978493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96050"/>
            <a:ext cx="10763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9DB6C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9DB6C0"/>
                </a:solidFill>
                <a:latin typeface="Aptos"/>
                <a:ea typeface="Aptos"/>
                <a:cs typeface="Aptos"/>
              </a:rPr>
              <a:t>Current submission proves CPU llama.cpp and local Metal inference; ROCm/vLLM remains a documented promotion path.</a:t>
            </a:r>
          </a:p>
        </p:txBody>
      </p:sp>
    </p:spTree>
    <p:extLst>
      <p:ext uri="{BB962C8B-B14F-4D97-AF65-F5344CB8AC3E}">
        <p14:creationId xmlns:p14="http://schemas.microsoft.com/office/powerpoint/2010/main" val="18856074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E7FA5D-FA71-4D5C-B66B-1B308898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9989DB-D835-454A-BFE0-C24EF8AE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DA41B0-589B-441F-B0E4-8F68CA73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7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75"/>
                </a:solidFill>
                <a:latin typeface="Aptos"/>
                <a:ea typeface="Aptos"/>
                <a:cs typeface="Aptos"/>
              </a:rPr>
              <a:t>PROTEINLOOP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C40A9-AF9E-4AB6-A293-EB6AEBAD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876300"/>
            <a:ext cx="4857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F2A"/>
                </a:solidFill>
                <a:latin typeface="Aptos Display"/>
                <a:ea typeface="Aptos Display"/>
                <a:cs typeface="Aptos Display"/>
              </a:rPr>
              <a:t>Protect protein production where connectivity cannot be assumed.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EC3AD-0692-40A9-8E93-DA6DB7DE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95600"/>
            <a:ext cx="4667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A verifier-gated, producer-controlled platform for rural farms, cooperatives, and food-security programs.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B3DE23-CA7C-471C-990D-A9CCF060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862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7C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111E2-0A6B-4CA2-910B-8EF68695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PRIVATE FIELD LINK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B679A-3262-4DE1-B14A-97745293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576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Two physical nRF9151 radios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E501AE-591D-4F67-BC47-3EC3A5E51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958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7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819B7-194B-4752-9152-AE87F0CC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LOCAL INTELLIGENCE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6AB2C-5A85-493E-A5A1-35CAAAAE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6672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Self-hosted Gemma 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1630C4-6694-4158-9E92-AABF07EB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054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C2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799F7B-D712-4A54-836B-6721C42D9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768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B1F2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B1F2A"/>
                </a:solidFill>
                <a:latin typeface="Aptos"/>
                <a:ea typeface="Aptos"/>
                <a:cs typeface="Aptos"/>
              </a:rPr>
              <a:t>EXECUTABLE SAFETY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75629-6DEE-451B-ABBC-6754AA93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276850"/>
            <a:ext cx="2324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25466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425466"/>
                </a:solidFill>
                <a:latin typeface="Aptos"/>
                <a:ea typeface="Aptos"/>
                <a:cs typeface="Aptos"/>
              </a:rPr>
              <a:t>Deterministic verifier + RLVR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0FD61F-703E-4E98-BE30-4B4BEAD08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476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F6C2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F6C21"/>
                </a:solidFill>
                <a:latin typeface="Aptos"/>
                <a:ea typeface="Aptos"/>
                <a:cs typeface="Aptos"/>
              </a:rPr>
              <a:t>proteinloop.dev-vb.lat  |  Best Unicorn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106761-5361-4C29-8FBB-45096377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0fd3811344431"/>
          <a:srcRect xmlns:a="http://schemas.openxmlformats.org/drawingml/2006/main" l="20736" t="0" r="2073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10250" y="0"/>
            <a:ext cx="6381750" cy="68580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E599E2-8F79-4702-9969-531B0B8A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924550"/>
            <a:ext cx="63817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D3C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5C4D47-45DC-40B0-A22C-629DE882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6153150"/>
            <a:ext cx="561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ASK: BEST UNICORN</a:t>
            </a:r>
          </a:p>
        </p:txBody>
      </p:sp>
    </p:spTree>
    <p:extLst>
      <p:ext uri="{BB962C8B-B14F-4D97-AF65-F5344CB8AC3E}">
        <p14:creationId xmlns:p14="http://schemas.microsoft.com/office/powerpoint/2010/main" val="16387793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2026-07-11T17:49:26.3530000Z</dcterms:created>
  <dcterms:modified xsi:type="dcterms:W3CDTF">2026-07-11T17:49:26.3530000Z</dcterms:modified>
</coreProperties>
</file>